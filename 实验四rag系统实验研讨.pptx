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6"/>
  </p:notes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25" r:id="rId24"/>
    <p:sldId id="328" r:id="rId25"/>
  </p:sldIdLst>
  <p:sldSz cx="7620000" cy="428625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173" d="100"/>
          <a:sy n="173" d="100"/>
        </p:scale>
        <p:origin x="88" y="108"/>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 Id="rId1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6.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7.png"/><Relationship Id="rId9"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6.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7.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6.png"/><Relationship Id="rId7" Type="http://schemas.openxmlformats.org/officeDocument/2006/relationships/image" Target="../media/image30.png"/><Relationship Id="rId12" Type="http://schemas.openxmlformats.org/officeDocument/2006/relationships/image" Target="../media/image37.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svg"/><Relationship Id="rId11" Type="http://schemas.openxmlformats.org/officeDocument/2006/relationships/image" Target="../media/image36.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7.pn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image" Target="../media/image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7.png"/><Relationship Id="rId9" Type="http://schemas.openxmlformats.org/officeDocument/2006/relationships/image" Target="../media/image42.png"/><Relationship Id="rId14" Type="http://schemas.openxmlformats.org/officeDocument/2006/relationships/image" Target="../media/image47.svg"/></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6.png"/><Relationship Id="rId7" Type="http://schemas.openxmlformats.org/officeDocument/2006/relationships/image" Target="../media/image50.svg"/><Relationship Id="rId12" Type="http://schemas.openxmlformats.org/officeDocument/2006/relationships/image" Target="../media/image55.svg"/><Relationship Id="rId2" Type="http://schemas.openxmlformats.org/officeDocument/2006/relationships/notesSlide" Target="../notesSlides/notesSlide17.xml"/><Relationship Id="rId16" Type="http://schemas.openxmlformats.org/officeDocument/2006/relationships/image" Target="../media/image59.svg"/><Relationship Id="rId1" Type="http://schemas.openxmlformats.org/officeDocument/2006/relationships/slideLayout" Target="../slideLayouts/slideLayout1.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svg"/><Relationship Id="rId10" Type="http://schemas.openxmlformats.org/officeDocument/2006/relationships/image" Target="../media/image53.svg"/><Relationship Id="rId4" Type="http://schemas.openxmlformats.org/officeDocument/2006/relationships/image" Target="../media/image7.png"/><Relationship Id="rId9" Type="http://schemas.openxmlformats.org/officeDocument/2006/relationships/image" Target="../media/image52.svg"/><Relationship Id="rId14" Type="http://schemas.openxmlformats.org/officeDocument/2006/relationships/image" Target="../media/image57.sv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png"/><Relationship Id="rId7" Type="http://schemas.openxmlformats.org/officeDocument/2006/relationships/image" Target="../media/image65.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7.png"/><Relationship Id="rId9" Type="http://schemas.openxmlformats.org/officeDocument/2006/relationships/image" Target="../media/image67.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3" Type="http://schemas.openxmlformats.org/officeDocument/2006/relationships/image" Target="../media/image6.png"/><Relationship Id="rId7" Type="http://schemas.openxmlformats.org/officeDocument/2006/relationships/image" Target="../media/image70.png"/><Relationship Id="rId12" Type="http://schemas.openxmlformats.org/officeDocument/2006/relationships/image" Target="../media/image75.svg"/><Relationship Id="rId2" Type="http://schemas.openxmlformats.org/officeDocument/2006/relationships/notesSlide" Target="../notesSlides/notesSlide21.xml"/><Relationship Id="rId16"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svg"/><Relationship Id="rId4" Type="http://schemas.openxmlformats.org/officeDocument/2006/relationships/image" Target="../media/image7.png"/><Relationship Id="rId9" Type="http://schemas.openxmlformats.org/officeDocument/2006/relationships/image" Target="../media/image72.png"/><Relationship Id="rId14" Type="http://schemas.openxmlformats.org/officeDocument/2006/relationships/image" Target="../media/image7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02156" y="1548362"/>
            <a:ext cx="2617584" cy="785377"/>
          </a:xfrm>
          <a:prstGeom prst="rect">
            <a:avLst/>
          </a:prstGeom>
        </p:spPr>
      </p:pic>
      <p:sp>
        <p:nvSpPr>
          <p:cNvPr id="3" name="Text 0"/>
          <p:cNvSpPr/>
          <p:nvPr/>
        </p:nvSpPr>
        <p:spPr>
          <a:xfrm>
            <a:off x="3161928" y="1820576"/>
            <a:ext cx="1440160" cy="240947"/>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260"/>
              </a:lnSpc>
              <a:buNone/>
            </a:pPr>
            <a:r>
              <a:rPr lang="en-US" sz="1050" dirty="0" err="1">
                <a:solidFill>
                  <a:srgbClr val="FFFFFF"/>
                </a:solidFill>
              </a:rPr>
              <a:t>汇报人：第十四组</a:t>
            </a:r>
            <a:endParaRPr lang="en-US" sz="1050" dirty="0">
              <a:solidFill>
                <a:srgbClr val="FFFFFF"/>
              </a:solidFill>
            </a:endParaRPr>
          </a:p>
          <a:p>
            <a:pPr marL="0" indent="0" algn="ctr">
              <a:lnSpc>
                <a:spcPts val="1260"/>
              </a:lnSpc>
              <a:buNone/>
            </a:pPr>
            <a:endParaRPr lang="en-US" sz="1050" dirty="0">
              <a:solidFill>
                <a:srgbClr val="FFFFFF"/>
              </a:solidFill>
            </a:endParaRPr>
          </a:p>
          <a:p>
            <a:pPr marL="0" indent="0" algn="ctr">
              <a:lnSpc>
                <a:spcPts val="1260"/>
              </a:lnSpc>
              <a:buNone/>
            </a:pPr>
            <a:r>
              <a:rPr lang="en-US" altLang="zh-CN" sz="1050" dirty="0">
                <a:solidFill>
                  <a:srgbClr val="FFFFFF"/>
                </a:solidFill>
              </a:rPr>
              <a:t>----</a:t>
            </a:r>
            <a:r>
              <a:rPr lang="zh-CN" altLang="en-US" sz="1050" dirty="0">
                <a:solidFill>
                  <a:srgbClr val="FFFFFF"/>
                </a:solidFill>
              </a:rPr>
              <a:t>金致赫 姚思瀚 田皓霖  </a:t>
            </a:r>
            <a:endParaRPr lang="en-US" sz="1050" dirty="0">
              <a:solidFill>
                <a:srgbClr val="FFFFFF"/>
              </a:solidFill>
            </a:endParaRPr>
          </a:p>
          <a:p>
            <a:pPr marL="0" indent="0" algn="ctr">
              <a:lnSpc>
                <a:spcPts val="1260"/>
              </a:lnSpc>
              <a:buNone/>
            </a:pPr>
            <a:endParaRPr lang="en-US" sz="1050" dirty="0"/>
          </a:p>
        </p:txBody>
      </p:sp>
      <p:sp>
        <p:nvSpPr>
          <p:cNvPr id="4" name="Text 1"/>
          <p:cNvSpPr/>
          <p:nvPr/>
        </p:nvSpPr>
        <p:spPr>
          <a:xfrm>
            <a:off x="205829" y="367798"/>
            <a:ext cx="7217559" cy="110027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4890"/>
              </a:lnSpc>
              <a:buNone/>
            </a:pPr>
            <a:r>
              <a:rPr lang="en-US" sz="2450">
                <a:solidFill>
                  <a:srgbClr val="146266"/>
                </a:solidFill>
              </a:rPr>
              <a:t>rag系统
</a:t>
            </a:r>
            <a:r>
              <a:rPr lang="en-US" sz="3260">
                <a:solidFill>
                  <a:srgbClr val="146266"/>
                </a:solidFill>
              </a:rPr>
              <a:t>实验研讨报告</a:t>
            </a:r>
            <a:endParaRPr lang="en-US" sz="24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9343" y="131078"/>
            <a:ext cx="7361315" cy="3927081"/>
          </a:xfrm>
          <a:prstGeom prst="rect">
            <a:avLst/>
          </a:prstGeom>
        </p:spPr>
      </p:pic>
      <p:sp>
        <p:nvSpPr>
          <p:cNvPr id="3" name="Text 0"/>
          <p:cNvSpPr/>
          <p:nvPr/>
        </p:nvSpPr>
        <p:spPr>
          <a:xfrm>
            <a:off x="603464" y="1750078"/>
            <a:ext cx="1102625"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600"/>
              </a:lnSpc>
              <a:buNone/>
            </a:pPr>
            <a:r>
              <a:rPr lang="en-US" sz="3000">
                <a:solidFill>
                  <a:srgbClr val="1E1E1E"/>
                </a:solidFill>
              </a:rPr>
              <a:t>目录</a:t>
            </a:r>
            <a:endParaRPr lang="en-US" sz="3000"/>
          </a:p>
        </p:txBody>
      </p:sp>
      <p:sp>
        <p:nvSpPr>
          <p:cNvPr id="4" name="Text 1"/>
          <p:cNvSpPr/>
          <p:nvPr/>
        </p:nvSpPr>
        <p:spPr>
          <a:xfrm>
            <a:off x="595694" y="2332869"/>
            <a:ext cx="1966532" cy="20568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20"/>
              </a:lnSpc>
              <a:buNone/>
            </a:pPr>
            <a:r>
              <a:rPr lang="en-US" sz="1350">
                <a:solidFill>
                  <a:srgbClr val="1E1E1E"/>
                </a:solidFill>
              </a:rPr>
              <a:t>CONTENTS</a:t>
            </a:r>
            <a:endParaRPr lang="en-US" sz="1350"/>
          </a:p>
        </p:txBody>
      </p:sp>
      <p:sp>
        <p:nvSpPr>
          <p:cNvPr id="5" name="Text 2"/>
          <p:cNvSpPr/>
          <p:nvPr/>
        </p:nvSpPr>
        <p:spPr>
          <a:xfrm>
            <a:off x="3606608" y="1029479"/>
            <a:ext cx="790210" cy="32370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520"/>
              </a:lnSpc>
              <a:buNone/>
            </a:pPr>
            <a:r>
              <a:rPr lang="en-US" sz="2100">
                <a:solidFill>
                  <a:srgbClr val="1E1E1E"/>
                </a:solidFill>
              </a:rPr>
              <a:t>01</a:t>
            </a:r>
            <a:endParaRPr lang="en-US" sz="2100"/>
          </a:p>
        </p:txBody>
      </p:sp>
      <p:sp>
        <p:nvSpPr>
          <p:cNvPr id="6" name="Text 3"/>
          <p:cNvSpPr/>
          <p:nvPr/>
        </p:nvSpPr>
        <p:spPr>
          <a:xfrm>
            <a:off x="3606608" y="1664849"/>
            <a:ext cx="790210" cy="32370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520"/>
              </a:lnSpc>
              <a:buNone/>
            </a:pPr>
            <a:r>
              <a:rPr lang="en-US" sz="2100">
                <a:solidFill>
                  <a:srgbClr val="1E1E1E"/>
                </a:solidFill>
              </a:rPr>
              <a:t>02</a:t>
            </a:r>
            <a:endParaRPr lang="en-US" sz="2100"/>
          </a:p>
        </p:txBody>
      </p:sp>
      <p:sp>
        <p:nvSpPr>
          <p:cNvPr id="7" name="Text 4"/>
          <p:cNvSpPr/>
          <p:nvPr/>
        </p:nvSpPr>
        <p:spPr>
          <a:xfrm>
            <a:off x="3606608" y="2300219"/>
            <a:ext cx="790210" cy="32370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520"/>
              </a:lnSpc>
              <a:buNone/>
            </a:pPr>
            <a:r>
              <a:rPr lang="en-US" sz="2100">
                <a:solidFill>
                  <a:srgbClr val="1E1E1E"/>
                </a:solidFill>
              </a:rPr>
              <a:t>03</a:t>
            </a:r>
            <a:endParaRPr lang="en-US" sz="2100"/>
          </a:p>
        </p:txBody>
      </p:sp>
      <p:sp>
        <p:nvSpPr>
          <p:cNvPr id="8" name="Text 5"/>
          <p:cNvSpPr/>
          <p:nvPr/>
        </p:nvSpPr>
        <p:spPr>
          <a:xfrm>
            <a:off x="3606608" y="2935590"/>
            <a:ext cx="790210" cy="32370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520"/>
              </a:lnSpc>
              <a:buNone/>
            </a:pPr>
            <a:r>
              <a:rPr lang="en-US" sz="2100">
                <a:solidFill>
                  <a:srgbClr val="1E1E1E"/>
                </a:solidFill>
              </a:rPr>
              <a:t>04</a:t>
            </a:r>
            <a:endParaRPr lang="en-US" sz="2100"/>
          </a:p>
        </p:txBody>
      </p:sp>
      <p:sp>
        <p:nvSpPr>
          <p:cNvPr id="9" name="Text 6"/>
          <p:cNvSpPr/>
          <p:nvPr/>
        </p:nvSpPr>
        <p:spPr>
          <a:xfrm>
            <a:off x="4415937" y="1048480"/>
            <a:ext cx="3046644" cy="28575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56"/>
              </a:lnSpc>
              <a:buNone/>
            </a:pPr>
            <a:r>
              <a:rPr lang="en-US" sz="1880">
                <a:solidFill>
                  <a:srgbClr val="1E1E1E"/>
                </a:solidFill>
              </a:rPr>
              <a:t>相关工作</a:t>
            </a:r>
            <a:endParaRPr lang="en-US" sz="1880"/>
          </a:p>
        </p:txBody>
      </p:sp>
      <p:sp>
        <p:nvSpPr>
          <p:cNvPr id="10" name="Text 7"/>
          <p:cNvSpPr/>
          <p:nvPr/>
        </p:nvSpPr>
        <p:spPr>
          <a:xfrm>
            <a:off x="4415938" y="1683850"/>
            <a:ext cx="3046644" cy="28575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56"/>
              </a:lnSpc>
              <a:buNone/>
            </a:pPr>
            <a:r>
              <a:rPr lang="en-US" sz="1880">
                <a:solidFill>
                  <a:srgbClr val="1E1E1E"/>
                </a:solidFill>
              </a:rPr>
              <a:t>系统设计与实现</a:t>
            </a:r>
            <a:endParaRPr lang="en-US" sz="1880"/>
          </a:p>
        </p:txBody>
      </p:sp>
      <p:sp>
        <p:nvSpPr>
          <p:cNvPr id="11" name="Text 8"/>
          <p:cNvSpPr/>
          <p:nvPr/>
        </p:nvSpPr>
        <p:spPr>
          <a:xfrm>
            <a:off x="4415938" y="2319220"/>
            <a:ext cx="3046644" cy="28575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56"/>
              </a:lnSpc>
              <a:buNone/>
            </a:pPr>
            <a:r>
              <a:rPr lang="en-US" sz="1880">
                <a:solidFill>
                  <a:srgbClr val="1E1E1E"/>
                </a:solidFill>
              </a:rPr>
              <a:t>实验与结果分析</a:t>
            </a:r>
            <a:endParaRPr lang="en-US" sz="1880"/>
          </a:p>
        </p:txBody>
      </p:sp>
      <p:sp>
        <p:nvSpPr>
          <p:cNvPr id="12" name="Text 9"/>
          <p:cNvSpPr/>
          <p:nvPr/>
        </p:nvSpPr>
        <p:spPr>
          <a:xfrm>
            <a:off x="4415938" y="2954591"/>
            <a:ext cx="3046644" cy="28575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56"/>
              </a:lnSpc>
              <a:buNone/>
            </a:pPr>
            <a:r>
              <a:rPr lang="en-US" sz="1880">
                <a:solidFill>
                  <a:srgbClr val="1E1E1E"/>
                </a:solidFill>
              </a:rPr>
              <a:t>总结与展望</a:t>
            </a:r>
            <a:endParaRPr lang="en-US" sz="188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82401" y="993555"/>
            <a:ext cx="6664423"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600"/>
              </a:lnSpc>
              <a:buNone/>
            </a:pPr>
            <a:r>
              <a:rPr lang="en-US" sz="3000">
                <a:solidFill>
                  <a:srgbClr val="146266"/>
                </a:solidFill>
              </a:rPr>
              <a:t>第一章 相关工作</a:t>
            </a:r>
            <a:endParaRPr lang="en-US" sz="3000"/>
          </a:p>
        </p:txBody>
      </p:sp>
      <p:sp>
        <p:nvSpPr>
          <p:cNvPr id="3" name="Text 1"/>
          <p:cNvSpPr/>
          <p:nvPr/>
        </p:nvSpPr>
        <p:spPr>
          <a:xfrm>
            <a:off x="2920801" y="564938"/>
            <a:ext cx="1787623" cy="304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436"/>
              </a:lnSpc>
              <a:buNone/>
            </a:pPr>
            <a:r>
              <a:rPr lang="en-US" sz="2030">
                <a:solidFill>
                  <a:srgbClr val="146266"/>
                </a:solidFill>
              </a:rPr>
              <a:t>Part.01</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02a10f6e637009b85584f476fc2b81fe.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259" y="1244516"/>
            <a:ext cx="1537256" cy="2319422"/>
          </a:xfrm>
          <a:prstGeom prst="rect">
            <a:avLst/>
          </a:prstGeom>
        </p:spPr>
      </p:pic>
      <p:pic>
        <p:nvPicPr>
          <p:cNvPr id="5" name="Image 3" descr="https://test.web.static.jianzeppt.com/ppt-temp-img3/14097deec6ca2aa21d7b0e4fef6d0fe1.png"/>
          <p:cNvPicPr>
            <a:picLocks noChangeAspect="1"/>
          </p:cNvPicPr>
          <p:nvPr/>
        </p:nvPicPr>
        <p:blipFill>
          <a:blip r:embed="rId7"/>
          <a:stretch>
            <a:fillRect/>
          </a:stretch>
        </p:blipFill>
        <p:spPr>
          <a:xfrm>
            <a:off x="686197" y="1114673"/>
            <a:ext cx="1267381" cy="259686"/>
          </a:xfrm>
          <a:prstGeom prst="rect">
            <a:avLst/>
          </a:prstGeom>
        </p:spPr>
      </p:pic>
      <p:pic>
        <p:nvPicPr>
          <p:cNvPr id="6"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11308" y="1244516"/>
            <a:ext cx="1537335" cy="2319422"/>
          </a:xfrm>
          <a:prstGeom prst="rect">
            <a:avLst/>
          </a:prstGeom>
        </p:spPr>
      </p:pic>
      <p:pic>
        <p:nvPicPr>
          <p:cNvPr id="7" name="Image 5" descr="https://test.web.static.jianzeppt.com/ppt-temp-img3/198bb9b34e38576501b9d7e58a16c3b4.png"/>
          <p:cNvPicPr>
            <a:picLocks noChangeAspect="1"/>
          </p:cNvPicPr>
          <p:nvPr/>
        </p:nvPicPr>
        <p:blipFill>
          <a:blip r:embed="rId10"/>
          <a:stretch>
            <a:fillRect/>
          </a:stretch>
        </p:blipFill>
        <p:spPr>
          <a:xfrm>
            <a:off x="2346325" y="1114673"/>
            <a:ext cx="1267301" cy="259686"/>
          </a:xfrm>
          <a:prstGeom prst="rect">
            <a:avLst/>
          </a:prstGeom>
        </p:spPr>
      </p:pic>
      <p:pic>
        <p:nvPicPr>
          <p:cNvPr id="8"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71357" y="1244516"/>
            <a:ext cx="1537335" cy="2319422"/>
          </a:xfrm>
          <a:prstGeom prst="rect">
            <a:avLst/>
          </a:prstGeom>
        </p:spPr>
      </p:pic>
      <p:pic>
        <p:nvPicPr>
          <p:cNvPr id="9" name="Image 7" descr="https://test.web.static.jianzeppt.com/ppt-temp-img3/20e3bc7c7eea4c65a8a1ab3e0ea9f932.png"/>
          <p:cNvPicPr>
            <a:picLocks noChangeAspect="1"/>
          </p:cNvPicPr>
          <p:nvPr/>
        </p:nvPicPr>
        <p:blipFill>
          <a:blip r:embed="rId13"/>
          <a:stretch>
            <a:fillRect/>
          </a:stretch>
        </p:blipFill>
        <p:spPr>
          <a:xfrm>
            <a:off x="4006374" y="1114673"/>
            <a:ext cx="1267301" cy="259686"/>
          </a:xfrm>
          <a:prstGeom prst="rect">
            <a:avLst/>
          </a:prstGeom>
        </p:spPr>
      </p:pic>
      <p:pic>
        <p:nvPicPr>
          <p:cNvPr id="10" name="Image 8" descr="preencoded.png"/>
          <p:cNvPicPr>
            <a:picLocks noChangeAspect="1"/>
          </p:cNvPicPr>
          <p:nvPr/>
        </p:nvPicPr>
        <p:blipFill>
          <a:blip r:embed="rId11">
            <a:extLst>
              <a:ext uri="{96DAC541-7B7A-43D3-8B79-37D633B846F1}">
                <asvg:svgBlip xmlns:asvg="http://schemas.microsoft.com/office/drawing/2016/SVG/main" r:embed="rId14"/>
              </a:ext>
            </a:extLst>
          </a:blip>
          <a:stretch>
            <a:fillRect/>
          </a:stretch>
        </p:blipFill>
        <p:spPr>
          <a:xfrm>
            <a:off x="5531406" y="1244516"/>
            <a:ext cx="1537335" cy="2319422"/>
          </a:xfrm>
          <a:prstGeom prst="rect">
            <a:avLst/>
          </a:prstGeom>
        </p:spPr>
      </p:pic>
      <p:pic>
        <p:nvPicPr>
          <p:cNvPr id="11" name="Image 9" descr="https://test.web.static.jianzeppt.com/ppt-temp-img3/9a000f96bdca6eb3417cf7b3e4b19f3c.png"/>
          <p:cNvPicPr>
            <a:picLocks noChangeAspect="1"/>
          </p:cNvPicPr>
          <p:nvPr/>
        </p:nvPicPr>
        <p:blipFill>
          <a:blip r:embed="rId15"/>
          <a:stretch>
            <a:fillRect/>
          </a:stretch>
        </p:blipFill>
        <p:spPr>
          <a:xfrm>
            <a:off x="5666422" y="1114673"/>
            <a:ext cx="1267301" cy="259686"/>
          </a:xfrm>
          <a:prstGeom prst="rect">
            <a:avLst/>
          </a:prstGeom>
        </p:spPr>
      </p:pic>
      <p:sp>
        <p:nvSpPr>
          <p:cNvPr id="12" name="Text 0"/>
          <p:cNvSpPr/>
          <p:nvPr/>
        </p:nvSpPr>
        <p:spPr>
          <a:xfrm>
            <a:off x="695373" y="1652469"/>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13" name="Text 1"/>
          <p:cNvSpPr/>
          <p:nvPr/>
        </p:nvSpPr>
        <p:spPr>
          <a:xfrm>
            <a:off x="4015512" y="1652469"/>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14" name="Text 2"/>
          <p:cNvSpPr/>
          <p:nvPr/>
        </p:nvSpPr>
        <p:spPr>
          <a:xfrm>
            <a:off x="2355458" y="1652469"/>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5" name="Text 3"/>
          <p:cNvSpPr/>
          <p:nvPr/>
        </p:nvSpPr>
        <p:spPr>
          <a:xfrm>
            <a:off x="5675596" y="1652469"/>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
        <p:nvSpPr>
          <p:cNvPr id="16" name="Text 4"/>
          <p:cNvSpPr/>
          <p:nvPr/>
        </p:nvSpPr>
        <p:spPr>
          <a:xfrm>
            <a:off x="2340266" y="2151856"/>
            <a:ext cx="1288576" cy="108942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079"/>
              </a:lnSpc>
              <a:buNone/>
            </a:pPr>
            <a:r>
              <a:rPr lang="en-US" sz="830">
                <a:solidFill>
                  <a:srgbClr val="333333"/>
                </a:solidFill>
                <a:latin typeface="SourceHanSansCN-Regular"/>
                <a:ea typeface="SourceHanSansCN-Regular"/>
                <a:cs typeface="SourceHanSansCN-Regular"/>
              </a:rPr>
              <a:t>RAG框架的核心在于将参数化的模型生成能力与非参数化的外部知识检索相结合。通过从外部文档库检索与查询相关的知识片段，并将其作为上下文输入LLM，引导模型生成基于事实、来源可考的答案。</a:t>
            </a:r>
            <a:endParaRPr lang="en-US" sz="830"/>
          </a:p>
        </p:txBody>
      </p:sp>
      <p:sp>
        <p:nvSpPr>
          <p:cNvPr id="17" name="Text 5"/>
          <p:cNvSpPr/>
          <p:nvPr/>
        </p:nvSpPr>
        <p:spPr>
          <a:xfrm>
            <a:off x="743372" y="1145545"/>
            <a:ext cx="11621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FFFFFF"/>
                </a:solidFill>
                <a:latin typeface="SourceHanSansCN-Regular"/>
                <a:ea typeface="SourceHanSansCN-Regular"/>
                <a:cs typeface="SourceHanSansCN-Regular"/>
              </a:rPr>
              <a:t>RAG范式演进</a:t>
            </a:r>
            <a:endParaRPr lang="en-US" sz="1200"/>
          </a:p>
        </p:txBody>
      </p:sp>
      <p:sp>
        <p:nvSpPr>
          <p:cNvPr id="18" name="Text 6"/>
          <p:cNvSpPr/>
          <p:nvPr/>
        </p:nvSpPr>
        <p:spPr>
          <a:xfrm>
            <a:off x="5723595" y="1145545"/>
            <a:ext cx="11621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FFFFFF"/>
                </a:solidFill>
                <a:latin typeface="SourceHanSansCN-Regular"/>
                <a:ea typeface="SourceHanSansCN-Regular"/>
                <a:cs typeface="SourceHanSansCN-Regular"/>
              </a:rPr>
              <a:t>新趋势与挑战</a:t>
            </a:r>
            <a:endParaRPr lang="en-US" sz="1200"/>
          </a:p>
        </p:txBody>
      </p:sp>
      <p:sp>
        <p:nvSpPr>
          <p:cNvPr id="19" name="Text 7"/>
          <p:cNvSpPr/>
          <p:nvPr/>
        </p:nvSpPr>
        <p:spPr>
          <a:xfrm>
            <a:off x="680182" y="2151856"/>
            <a:ext cx="1288576" cy="108942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079"/>
              </a:lnSpc>
              <a:buNone/>
            </a:pPr>
            <a:r>
              <a:rPr lang="en-US" sz="830">
                <a:solidFill>
                  <a:srgbClr val="333333"/>
                </a:solidFill>
                <a:latin typeface="SourceHanSansCN-Regular"/>
                <a:ea typeface="SourceHanSansCN-Regular"/>
                <a:cs typeface="SourceHanSansCN-Regular"/>
              </a:rPr>
              <a:t>检索增强生成（RAG）作为连接大语言模型与外部知识库的范式，经历了从概念提出到架构优化的演进。它旨在解决预训练语言模型在知识密集型任务中尤为突出的“幻觉”问题，提升答案的准确性和可靠性。</a:t>
            </a:r>
            <a:endParaRPr lang="en-US" sz="830"/>
          </a:p>
        </p:txBody>
      </p:sp>
      <p:sp>
        <p:nvSpPr>
          <p:cNvPr id="20" name="Text 8"/>
          <p:cNvSpPr/>
          <p:nvPr/>
        </p:nvSpPr>
        <p:spPr>
          <a:xfrm>
            <a:off x="2403456" y="1145545"/>
            <a:ext cx="11621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FFFFFF"/>
                </a:solidFill>
                <a:latin typeface="SourceHanSansCN-Regular"/>
                <a:ea typeface="SourceHanSansCN-Regular"/>
                <a:cs typeface="SourceHanSansCN-Regular"/>
              </a:rPr>
              <a:t>核心技术创新</a:t>
            </a:r>
            <a:endParaRPr lang="en-US" sz="1200"/>
          </a:p>
        </p:txBody>
      </p:sp>
      <p:sp>
        <p:nvSpPr>
          <p:cNvPr id="21" name="Text 9"/>
          <p:cNvSpPr/>
          <p:nvPr/>
        </p:nvSpPr>
        <p:spPr>
          <a:xfrm>
            <a:off x="4000320" y="2151856"/>
            <a:ext cx="1288576" cy="108942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079"/>
              </a:lnSpc>
              <a:buNone/>
            </a:pPr>
            <a:r>
              <a:rPr lang="en-US" sz="830">
                <a:solidFill>
                  <a:srgbClr val="333333"/>
                </a:solidFill>
                <a:latin typeface="SourceHanSansCN-Regular"/>
                <a:ea typeface="SourceHanSansCN-Regular"/>
                <a:cs typeface="SourceHanSansCN-Regular"/>
              </a:rPr>
              <a:t>当前研究主要沿两个方向深化：一是检索质量优化，如采用混合检索与多阶段检索提升召回率；二是系统效率提升，如探索模型解耦训练、向量索引压缩等技术，以解决检索延迟和高计算成本的问题。</a:t>
            </a:r>
            <a:endParaRPr lang="en-US" sz="830"/>
          </a:p>
        </p:txBody>
      </p:sp>
      <p:sp>
        <p:nvSpPr>
          <p:cNvPr id="22" name="Text 10"/>
          <p:cNvSpPr/>
          <p:nvPr/>
        </p:nvSpPr>
        <p:spPr>
          <a:xfrm>
            <a:off x="4063510" y="1145545"/>
            <a:ext cx="11621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FFFFFF"/>
                </a:solidFill>
                <a:latin typeface="SourceHanSansCN-Regular"/>
                <a:ea typeface="SourceHanSansCN-Regular"/>
                <a:cs typeface="SourceHanSansCN-Regular"/>
              </a:rPr>
              <a:t>主要研究方向</a:t>
            </a:r>
            <a:endParaRPr lang="en-US" sz="1200"/>
          </a:p>
        </p:txBody>
      </p:sp>
      <p:sp>
        <p:nvSpPr>
          <p:cNvPr id="23" name="Text 11"/>
          <p:cNvSpPr/>
          <p:nvPr/>
        </p:nvSpPr>
        <p:spPr>
          <a:xfrm>
            <a:off x="5660405" y="2151856"/>
            <a:ext cx="1288576" cy="11882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自适应RAG和智能体化RAG成为新趋势，系统能动态决定是否检索。然而，针对中文医疗垂直领域，如何构建轻量、高效且检索精准的端到端RAG系统，仍缺乏系统的工程实践与公开解决方案。</a:t>
            </a:r>
            <a:endParaRPr lang="en-US" sz="900"/>
          </a:p>
        </p:txBody>
      </p:sp>
      <p:sp>
        <p:nvSpPr>
          <p:cNvPr id="24" name="Text 12"/>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RAG技术研究要点</a:t>
            </a:r>
            <a:endParaRPr lang="en-US" sz="17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dur="75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dur="75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dur="750" fill="hold" grpId="4"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dur="750" fill="hold" grpId="5"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par>
                          <p:cTn id="20" fill="hold" nodeType="afterGroup">
                            <p:stCondLst>
                              <p:cond delay="500"/>
                            </p:stCondLst>
                            <p:childTnLst>
                              <p:par>
                                <p:cTn id="21" presetID="10" presetClass="entr" presetSubtype="0" dur="750" fill="hold" grpId="6"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dur="75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dur="75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dur="750" fill="hold" grpId="9"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dur="750" fill="hold" grpId="1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par>
                          <p:cTn id="36" fill="hold" nodeType="afterGroup">
                            <p:stCondLst>
                              <p:cond delay="1000"/>
                            </p:stCondLst>
                            <p:childTnLst>
                              <p:par>
                                <p:cTn id="37" presetID="10" presetClass="entr" presetSubtype="0" dur="750" fill="hold" grpId="11"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dur="75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10" presetClass="entr" presetSubtype="0" dur="75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dur="750" fill="hold" grpId="14"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dur="750" fill="hold" grpId="15"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childTnLst>
                          </p:cTn>
                        </p:par>
                        <p:par>
                          <p:cTn id="52" fill="hold" nodeType="afterGroup">
                            <p:stCondLst>
                              <p:cond delay="1500"/>
                            </p:stCondLst>
                            <p:childTnLst>
                              <p:par>
                                <p:cTn id="53" presetID="10" presetClass="entr" presetSubtype="0" dur="750" fill="hold" grpId="16"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dur="750" fill="hold"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10" presetClass="entr" presetSubtype="0" dur="75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par>
                                <p:cTn id="62" presetID="10" presetClass="entr" presetSubtype="0" dur="750" fill="hold" grpId="19"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dur="750" fill="hold" grpId="2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13" grpId="11" animBg="1"/>
      <p:bldP spid="14" grpId="6" animBg="1"/>
      <p:bldP spid="15" grpId="16" animBg="1"/>
      <p:bldP spid="16" grpId="10" animBg="1"/>
      <p:bldP spid="17" grpId="4" animBg="1"/>
      <p:bldP spid="18" grpId="19" animBg="1"/>
      <p:bldP spid="19" grpId="5" animBg="1"/>
      <p:bldP spid="20" grpId="9" animBg="1"/>
      <p:bldP spid="21" grpId="15" animBg="1"/>
      <p:bldP spid="22" grpId="14" animBg="1"/>
      <p:bldP spid="23" grpId="2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5fc65fd1c0dbd363785b2cd6d740585d.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413343" y="1684360"/>
            <a:ext cx="134145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核心技术作用</a:t>
            </a:r>
            <a:endParaRPr lang="en-US" sz="1200"/>
          </a:p>
        </p:txBody>
      </p:sp>
      <p:sp>
        <p:nvSpPr>
          <p:cNvPr id="5" name="Text 1"/>
          <p:cNvSpPr/>
          <p:nvPr/>
        </p:nvSpPr>
        <p:spPr>
          <a:xfrm>
            <a:off x="3952143" y="1951204"/>
            <a:ext cx="1341458"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ChromaDB是一款轻量级嵌入式向量数据库，注重开发者体验和快速部署。它采用简化架构，支持开箱即用，内置的HNSW索引算法完全能满足本实验中等规模数据的实时检索需求，查询延迟控制在毫秒级别。</a:t>
            </a:r>
            <a:endParaRPr lang="en-US" sz="900"/>
          </a:p>
        </p:txBody>
      </p:sp>
      <p:sp>
        <p:nvSpPr>
          <p:cNvPr id="6" name="Text 2"/>
          <p:cNvSpPr/>
          <p:nvPr/>
        </p:nvSpPr>
        <p:spPr>
          <a:xfrm>
            <a:off x="455015" y="1181875"/>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7" name="Text 3"/>
          <p:cNvSpPr/>
          <p:nvPr/>
        </p:nvSpPr>
        <p:spPr>
          <a:xfrm>
            <a:off x="2182742" y="1905955"/>
            <a:ext cx="1341458" cy="12256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079"/>
              </a:lnSpc>
              <a:buNone/>
            </a:pPr>
            <a:r>
              <a:rPr lang="en-US" sz="830">
                <a:solidFill>
                  <a:srgbClr val="333333"/>
                </a:solidFill>
                <a:latin typeface="SourceHanSansCN-Regular"/>
                <a:ea typeface="SourceHanSansCN-Regular"/>
                <a:cs typeface="SourceHanSansCN-Regular"/>
              </a:rPr>
              <a:t>Milvus是为大规模向量搜索设计的开源数据库，支持多种索引算法和分布式部署，理论上适合作为知识库存储引擎。但在实际部署中，我们遇到了环境配置复杂、依赖包冲突、连接不稳定等诸多技术挑战，耗费了大量调试时间。</a:t>
            </a:r>
            <a:endParaRPr lang="en-US" sz="830"/>
          </a:p>
        </p:txBody>
      </p:sp>
      <p:sp>
        <p:nvSpPr>
          <p:cNvPr id="8" name="Text 4"/>
          <p:cNvSpPr/>
          <p:nvPr/>
        </p:nvSpPr>
        <p:spPr>
          <a:xfrm>
            <a:off x="3993816" y="1199975"/>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9" name="Text 5"/>
          <p:cNvSpPr/>
          <p:nvPr/>
        </p:nvSpPr>
        <p:spPr>
          <a:xfrm>
            <a:off x="413343" y="1969304"/>
            <a:ext cx="1341458"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向量检索是实现高效语义相似度搜索的核心，它通过将文本转换为高维向量并进行相似度计算，从而在海量文档中快速定位相关信息。在构建RAG系统时，选择合适的向量数据库对系统性能和开发效率有重要影响。</a:t>
            </a:r>
            <a:endParaRPr lang="en-US" sz="900"/>
          </a:p>
        </p:txBody>
      </p:sp>
      <p:sp>
        <p:nvSpPr>
          <p:cNvPr id="10" name="Text 6"/>
          <p:cNvSpPr/>
          <p:nvPr/>
        </p:nvSpPr>
        <p:spPr>
          <a:xfrm>
            <a:off x="2189927" y="1181875"/>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1" name="Text 7"/>
          <p:cNvSpPr/>
          <p:nvPr/>
        </p:nvSpPr>
        <p:spPr>
          <a:xfrm>
            <a:off x="3941974" y="1721063"/>
            <a:ext cx="1341458" cy="160883"/>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274"/>
              </a:lnSpc>
              <a:buNone/>
            </a:pPr>
            <a:r>
              <a:rPr lang="en-US" sz="980" b="1">
                <a:solidFill>
                  <a:srgbClr val="000000"/>
                </a:solidFill>
                <a:latin typeface="SourceHanSansCN-Regular"/>
                <a:ea typeface="SourceHanSansCN-Regular"/>
                <a:cs typeface="SourceHanSansCN-Regular"/>
              </a:rPr>
              <a:t>ChromaDB方案分析</a:t>
            </a:r>
            <a:endParaRPr lang="en-US" sz="980"/>
          </a:p>
        </p:txBody>
      </p:sp>
      <p:sp>
        <p:nvSpPr>
          <p:cNvPr id="12" name="Text 8"/>
          <p:cNvSpPr/>
          <p:nvPr/>
        </p:nvSpPr>
        <p:spPr>
          <a:xfrm>
            <a:off x="5864636" y="1199975"/>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
        <p:nvSpPr>
          <p:cNvPr id="13" name="Text 9"/>
          <p:cNvSpPr/>
          <p:nvPr/>
        </p:nvSpPr>
        <p:spPr>
          <a:xfrm>
            <a:off x="2177668" y="1657210"/>
            <a:ext cx="134145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Milvus方案分析</a:t>
            </a:r>
            <a:endParaRPr lang="en-US" sz="1200"/>
          </a:p>
        </p:txBody>
      </p:sp>
      <p:sp>
        <p:nvSpPr>
          <p:cNvPr id="14" name="Text 10"/>
          <p:cNvSpPr/>
          <p:nvPr/>
        </p:nvSpPr>
        <p:spPr>
          <a:xfrm>
            <a:off x="5822963" y="1765808"/>
            <a:ext cx="134145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本实验的选择</a:t>
            </a:r>
            <a:endParaRPr lang="en-US" sz="1200"/>
          </a:p>
        </p:txBody>
      </p:sp>
      <p:sp>
        <p:nvSpPr>
          <p:cNvPr id="15" name="Text 11"/>
          <p:cNvSpPr/>
          <p:nvPr/>
        </p:nvSpPr>
        <p:spPr>
          <a:xfrm>
            <a:off x="5838205" y="2014553"/>
            <a:ext cx="1341458" cy="12256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079"/>
              </a:lnSpc>
              <a:buNone/>
            </a:pPr>
            <a:r>
              <a:rPr lang="en-US" sz="830">
                <a:solidFill>
                  <a:srgbClr val="333333"/>
                </a:solidFill>
                <a:latin typeface="SourceHanSansCN-Regular"/>
                <a:ea typeface="SourceHanSansCN-Regular"/>
                <a:cs typeface="SourceHanSansCN-Regular"/>
              </a:rPr>
              <a:t>鉴于实验时间和资源有限，我们最终选择ChromaDB。这一决策解决了技术兼容性问题，让我们能将更多精力集中在RAG系统的核心逻辑实现上，证明了轻量级工具在特定场景下，能在保证功能完整性的前提下，最大程度提高开发效率。</a:t>
            </a:r>
            <a:endParaRPr lang="en-US" sz="830"/>
          </a:p>
        </p:txBody>
      </p:sp>
      <p:sp>
        <p:nvSpPr>
          <p:cNvPr id="16" name="Text 12"/>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向量检索技术</a:t>
            </a:r>
            <a:endParaRPr lang="en-US" sz="17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nodeType="afterGroup">
                            <p:stCondLst>
                              <p:cond delay="500"/>
                            </p:stCondLst>
                            <p:childTnLst>
                              <p:par>
                                <p:cTn id="15" presetID="10" presetClass="entr" presetSubtype="0" dur="750" fill="hold" grpId="4"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dur="750" fill="hold" grpId="5"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nodeType="afterGroup">
                            <p:stCondLst>
                              <p:cond delay="1000"/>
                            </p:stCondLst>
                            <p:childTnLst>
                              <p:par>
                                <p:cTn id="25" presetID="10" presetClass="entr" presetSubtype="0" dur="750" fill="hold" grpId="7"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dur="750" fill="hold" grpId="8"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dur="750" fill="hold" grpId="9"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dur="750" fill="hold" grpId="1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dur="750" fill="hold" grpId="11"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nodeType="afterGroup">
                            <p:stCondLst>
                              <p:cond delay="1500"/>
                            </p:stCondLst>
                            <p:childTnLst>
                              <p:par>
                                <p:cTn id="41" presetID="10" presetClass="entr" presetSubtype="0" dur="750" fill="hold" grpId="12"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2" animBg="1"/>
      <p:bldP spid="5" grpId="9" animBg="1"/>
      <p:bldP spid="6" grpId="1" animBg="1"/>
      <p:bldP spid="7" grpId="6" animBg="1"/>
      <p:bldP spid="8" grpId="7" animBg="1"/>
      <p:bldP spid="9" grpId="3" animBg="1"/>
      <p:bldP spid="10" grpId="4" animBg="1"/>
      <p:bldP spid="11" grpId="8" animBg="1"/>
      <p:bldP spid="12" grpId="12" animBg="1"/>
      <p:bldP spid="13" grpId="5" animBg="1"/>
      <p:bldP spid="14" grpId="10" animBg="1"/>
      <p:bldP spid="15" grpId="1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0c77b5398a03234ddcc1b00335a4c868.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3794" y="1730078"/>
            <a:ext cx="1440026" cy="37418"/>
          </a:xfrm>
          <a:prstGeom prst="rect">
            <a:avLst/>
          </a:prstGeom>
        </p:spPr>
      </p:pic>
      <p:pic>
        <p:nvPicPr>
          <p:cNvPr id="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74590" y="1730078"/>
            <a:ext cx="1440026" cy="37418"/>
          </a:xfrm>
          <a:prstGeom prst="rect">
            <a:avLst/>
          </a:prstGeom>
        </p:spPr>
      </p:pic>
      <p:pic>
        <p:nvPicPr>
          <p:cNvPr id="6" name="Image 4" descr="preencoded.png"/>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3905386" y="1730078"/>
            <a:ext cx="1440026" cy="37418"/>
          </a:xfrm>
          <a:prstGeom prst="rect">
            <a:avLst/>
          </a:prstGeom>
        </p:spPr>
      </p:pic>
      <p:pic>
        <p:nvPicPr>
          <p:cNvPr id="7"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36181" y="1730078"/>
            <a:ext cx="1440025" cy="37418"/>
          </a:xfrm>
          <a:prstGeom prst="rect">
            <a:avLst/>
          </a:prstGeom>
        </p:spPr>
      </p:pic>
      <p:sp>
        <p:nvSpPr>
          <p:cNvPr id="8" name="Text 0"/>
          <p:cNvSpPr/>
          <p:nvPr/>
        </p:nvSpPr>
        <p:spPr>
          <a:xfrm>
            <a:off x="5608336" y="1837607"/>
            <a:ext cx="1304858"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365"/>
              </a:lnSpc>
              <a:buNone/>
            </a:pPr>
            <a:r>
              <a:rPr lang="en-US" sz="1050">
                <a:solidFill>
                  <a:srgbClr val="333333"/>
                </a:solidFill>
                <a:latin typeface="SourceHanSansCN-Regular"/>
                <a:ea typeface="SourceHanSansCN-Regular"/>
                <a:cs typeface="SourceHanSansCN-Regular"/>
              </a:rPr>
              <a:t>现有系统在真实场景中，仍普遍面临对最新医学进展覆盖不足、长文档检索导致模型“注意力分散”、以及多轮对话中上下文一致性维护困难等挑战。构建实用化医疗RAG系统仍需深入探索。</a:t>
            </a:r>
            <a:endParaRPr lang="en-US" sz="1050"/>
          </a:p>
        </p:txBody>
      </p:sp>
      <p:sp>
        <p:nvSpPr>
          <p:cNvPr id="9" name="Text 1"/>
          <p:cNvSpPr/>
          <p:nvPr/>
        </p:nvSpPr>
        <p:spPr>
          <a:xfrm>
            <a:off x="2346746" y="1837607"/>
            <a:ext cx="1304858"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365"/>
              </a:lnSpc>
              <a:buNone/>
            </a:pPr>
            <a:r>
              <a:rPr lang="en-US" sz="1050">
                <a:solidFill>
                  <a:srgbClr val="333333"/>
                </a:solidFill>
                <a:latin typeface="SourceHanSansCN-Regular"/>
                <a:ea typeface="SourceHanSansCN-Regular"/>
                <a:cs typeface="SourceHanSansCN-Regular"/>
              </a:rPr>
              <a:t>早期的医疗问答系统主要基于规则、模板或本体，虽能保证答案的准确性，但构建和维护成本高昂，且难以覆盖开放域和复杂的自然语言问句。基于信息检索的系统也受限于检索精度和浅层的文本匹配。</a:t>
            </a:r>
            <a:endParaRPr lang="en-US" sz="1050"/>
          </a:p>
        </p:txBody>
      </p:sp>
      <p:sp>
        <p:nvSpPr>
          <p:cNvPr id="10" name="Text 2"/>
          <p:cNvSpPr/>
          <p:nvPr/>
        </p:nvSpPr>
        <p:spPr>
          <a:xfrm>
            <a:off x="2345846" y="1493316"/>
            <a:ext cx="130665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116E85"/>
                </a:solidFill>
                <a:latin typeface="SourceHanSansCN-Regular"/>
                <a:ea typeface="SourceHanSansCN-Regular"/>
                <a:cs typeface="SourceHanSansCN-Regular"/>
              </a:rPr>
              <a:t>传统系统局限</a:t>
            </a:r>
            <a:endParaRPr lang="en-US" sz="1200"/>
          </a:p>
        </p:txBody>
      </p:sp>
      <p:sp>
        <p:nvSpPr>
          <p:cNvPr id="11" name="Text 3"/>
          <p:cNvSpPr/>
          <p:nvPr/>
        </p:nvSpPr>
        <p:spPr>
          <a:xfrm>
            <a:off x="739309" y="1118526"/>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12" name="Text 4"/>
          <p:cNvSpPr/>
          <p:nvPr/>
        </p:nvSpPr>
        <p:spPr>
          <a:xfrm>
            <a:off x="5607437" y="1493316"/>
            <a:ext cx="130665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116E85"/>
                </a:solidFill>
                <a:latin typeface="SourceHanSansCN-Regular"/>
                <a:ea typeface="SourceHanSansCN-Regular"/>
                <a:cs typeface="SourceHanSansCN-Regular"/>
              </a:rPr>
              <a:t>当前面临的挑战</a:t>
            </a:r>
            <a:endParaRPr lang="en-US" sz="1200"/>
          </a:p>
        </p:txBody>
      </p:sp>
      <p:sp>
        <p:nvSpPr>
          <p:cNvPr id="13" name="Text 5"/>
          <p:cNvSpPr/>
          <p:nvPr/>
        </p:nvSpPr>
        <p:spPr>
          <a:xfrm>
            <a:off x="4000884" y="1091376"/>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14" name="Text 6"/>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医疗问答现状</a:t>
            </a:r>
            <a:endParaRPr lang="en-US" sz="1730"/>
          </a:p>
        </p:txBody>
      </p:sp>
      <p:sp>
        <p:nvSpPr>
          <p:cNvPr id="15" name="Text 7"/>
          <p:cNvSpPr/>
          <p:nvPr/>
        </p:nvSpPr>
        <p:spPr>
          <a:xfrm>
            <a:off x="2456062" y="1091376"/>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6" name="Text 8"/>
          <p:cNvSpPr/>
          <p:nvPr/>
        </p:nvSpPr>
        <p:spPr>
          <a:xfrm>
            <a:off x="3976641" y="1493316"/>
            <a:ext cx="130665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116E85"/>
                </a:solidFill>
                <a:latin typeface="SourceHanSansCN-Regular"/>
                <a:ea typeface="SourceHanSansCN-Regular"/>
                <a:cs typeface="SourceHanSansCN-Regular"/>
              </a:rPr>
              <a:t>新技术巨大潜力</a:t>
            </a:r>
            <a:endParaRPr lang="en-US" sz="1200"/>
          </a:p>
        </p:txBody>
      </p:sp>
      <p:sp>
        <p:nvSpPr>
          <p:cNvPr id="17" name="Text 9"/>
          <p:cNvSpPr/>
          <p:nvPr/>
        </p:nvSpPr>
        <p:spPr>
          <a:xfrm>
            <a:off x="5710788" y="1091376"/>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
        <p:nvSpPr>
          <p:cNvPr id="18" name="Text 10"/>
          <p:cNvSpPr/>
          <p:nvPr/>
        </p:nvSpPr>
        <p:spPr>
          <a:xfrm>
            <a:off x="3977541" y="1837607"/>
            <a:ext cx="1304858"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365"/>
              </a:lnSpc>
              <a:buNone/>
            </a:pPr>
            <a:r>
              <a:rPr lang="en-US" sz="1050">
                <a:solidFill>
                  <a:srgbClr val="333333"/>
                </a:solidFill>
                <a:latin typeface="SourceHanSansCN-Regular"/>
                <a:ea typeface="SourceHanSansCN-Regular"/>
                <a:cs typeface="SourceHanSansCN-Regular"/>
              </a:rPr>
              <a:t>以大型语言模型和RAG技术为代表的新一代系统展现出巨大潜力。当前研究聚焦于构建高质量知识库、研发领域预训练模型、引入事实性约束和探索多模态问答，以提升系统在专业领域的应用价值。</a:t>
            </a:r>
            <a:endParaRPr lang="en-US" sz="1050"/>
          </a:p>
        </p:txBody>
      </p:sp>
      <p:sp>
        <p:nvSpPr>
          <p:cNvPr id="19" name="Text 11"/>
          <p:cNvSpPr/>
          <p:nvPr/>
        </p:nvSpPr>
        <p:spPr>
          <a:xfrm>
            <a:off x="715050" y="1493316"/>
            <a:ext cx="130665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116E85"/>
                </a:solidFill>
                <a:latin typeface="SourceHanSansCN-Regular"/>
                <a:ea typeface="SourceHanSansCN-Regular"/>
                <a:cs typeface="SourceHanSansCN-Regular"/>
              </a:rPr>
              <a:t>领域固有挑战</a:t>
            </a:r>
            <a:endParaRPr lang="en-US" sz="1200"/>
          </a:p>
        </p:txBody>
      </p:sp>
      <p:sp>
        <p:nvSpPr>
          <p:cNvPr id="20" name="Text 12"/>
          <p:cNvSpPr/>
          <p:nvPr/>
        </p:nvSpPr>
        <p:spPr>
          <a:xfrm>
            <a:off x="715950" y="1837607"/>
            <a:ext cx="1304858"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365"/>
              </a:lnSpc>
              <a:buNone/>
            </a:pPr>
            <a:r>
              <a:rPr lang="en-US" sz="1050">
                <a:solidFill>
                  <a:srgbClr val="333333"/>
                </a:solidFill>
                <a:latin typeface="SourceHanSansCN-Regular"/>
                <a:ea typeface="SourceHanSansCN-Regular"/>
                <a:cs typeface="SourceHanSansCN-Regular"/>
              </a:rPr>
              <a:t>医疗领域因其知识体系高度专业化、更新迅速且容错率极低，成为智能问答技术最具挑战性的应用场景之一。信息的准确性与时效性直接关系到辅助诊断的可靠性和患者安全，对技术要求极高。</a:t>
            </a:r>
            <a:endParaRPr lang="en-US" sz="10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dur="75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nodeType="afterGroup">
                            <p:stCondLst>
                              <p:cond delay="500"/>
                            </p:stCondLst>
                            <p:childTnLst>
                              <p:par>
                                <p:cTn id="15" presetID="10" presetClass="entr" presetSubtype="0" dur="750" fill="hold" grpId="4"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dur="750" fill="hold" grpId="5"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dur="75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dur="750" fill="hold" grpId="8"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nodeType="afterGroup">
                            <p:stCondLst>
                              <p:cond delay="1000"/>
                            </p:stCondLst>
                            <p:childTnLst>
                              <p:par>
                                <p:cTn id="31" presetID="10" presetClass="entr" presetSubtype="0" dur="750" fill="hold" grpId="9"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dur="750" fill="hold" grpId="1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dur="75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par>
                                <p:cTn id="40" presetID="10" presetClass="entr" presetSubtype="0" dur="750" fill="hold" grpId="12"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nodeType="afterGroup">
                            <p:stCondLst>
                              <p:cond delay="1500"/>
                            </p:stCondLst>
                            <p:childTnLst>
                              <p:par>
                                <p:cTn id="44" presetID="10" presetClass="entr" presetSubtype="0" dur="750" fill="hold" grpId="13"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dur="750" fill="hold" grpId="14"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dur="750" fill="hold"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dur="750" fill="hold" grpId="16"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6" animBg="1"/>
      <p:bldP spid="9" grpId="8" animBg="1"/>
      <p:bldP spid="10" grpId="6" animBg="1"/>
      <p:bldP spid="11" grpId="1" animBg="1"/>
      <p:bldP spid="12" grpId="14" animBg="1"/>
      <p:bldP spid="13" grpId="9" animBg="1"/>
      <p:bldP spid="15" grpId="4" animBg="1"/>
      <p:bldP spid="16" grpId="10" animBg="1"/>
      <p:bldP spid="17" grpId="13" animBg="1"/>
      <p:bldP spid="18" grpId="12" animBg="1"/>
      <p:bldP spid="19" grpId="2" animBg="1"/>
      <p:bldP spid="20" grpId="5"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2bb264f7119ecde3e48fe15761bc57b1.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1150479" y="1374990"/>
            <a:ext cx="2526736"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在RAG流程中，初步向量检索通常返回一个较大的候选文档集。重排序技术旨在对此候选集进行精细化二次评估与排序，筛选出与用户查询意图最相关的高质量文档子集，以优化输入生成模型的上下文质量。</a:t>
            </a:r>
            <a:endParaRPr lang="en-US" sz="980"/>
          </a:p>
        </p:txBody>
      </p:sp>
      <p:sp>
        <p:nvSpPr>
          <p:cNvPr id="5" name="Text 1"/>
          <p:cNvSpPr/>
          <p:nvPr/>
        </p:nvSpPr>
        <p:spPr>
          <a:xfrm>
            <a:off x="4380297" y="2769104"/>
            <a:ext cx="2526736" cy="8661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由于计算开销较大，重排序通常仅用于对少量顶级候选文档进行“精炼”。它作为密集检索器之后的关键环节，能有效提升输入生成模型的上下文质量，是优化最终答案事实性与相关性的关键技术之一。</a:t>
            </a:r>
            <a:endParaRPr lang="en-US" sz="1050"/>
          </a:p>
        </p:txBody>
      </p:sp>
      <p:sp>
        <p:nvSpPr>
          <p:cNvPr id="6" name="Text 2"/>
          <p:cNvSpPr/>
          <p:nvPr/>
        </p:nvSpPr>
        <p:spPr>
          <a:xfrm>
            <a:off x="4379396" y="1101188"/>
            <a:ext cx="252853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精准排序原理</a:t>
            </a:r>
            <a:endParaRPr lang="en-US" sz="1200"/>
          </a:p>
        </p:txBody>
      </p:sp>
      <p:sp>
        <p:nvSpPr>
          <p:cNvPr id="7" name="Text 3"/>
          <p:cNvSpPr/>
          <p:nvPr/>
        </p:nvSpPr>
        <p:spPr>
          <a:xfrm>
            <a:off x="1150479" y="2769104"/>
            <a:ext cx="2526736" cy="8661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当前主流方法是基于预训练Transformer架构的交叉编码器，如BGE-Reranker模型。与用于首轮检索的双编码器不同，交叉编码器将查询和候选文档文本拼接后一同输入模型，进行深层交互计算。</a:t>
            </a:r>
            <a:endParaRPr lang="en-US" sz="1050"/>
          </a:p>
        </p:txBody>
      </p:sp>
      <p:sp>
        <p:nvSpPr>
          <p:cNvPr id="8" name="Text 4"/>
          <p:cNvSpPr/>
          <p:nvPr/>
        </p:nvSpPr>
        <p:spPr>
          <a:xfrm>
            <a:off x="4380297" y="1374990"/>
            <a:ext cx="2526736" cy="8661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通过深层的注意力机制，交叉编码器能够捕捉查询与文档间细微的语义关联、逻辑蕴含关系和术语精确匹配，从而输出一个比向量距离更精确的全局相关性分数。这使其在排序精度上显著优于双编码器。</a:t>
            </a:r>
            <a:endParaRPr lang="en-US" sz="1050"/>
          </a:p>
        </p:txBody>
      </p:sp>
      <p:sp>
        <p:nvSpPr>
          <p:cNvPr id="9" name="Text 5"/>
          <p:cNvSpPr/>
          <p:nvPr/>
        </p:nvSpPr>
        <p:spPr>
          <a:xfrm>
            <a:off x="1149578" y="1101188"/>
            <a:ext cx="252853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技术核心目标</a:t>
            </a:r>
            <a:endParaRPr lang="en-US" sz="1200"/>
          </a:p>
        </p:txBody>
      </p:sp>
      <p:sp>
        <p:nvSpPr>
          <p:cNvPr id="10" name="Text 6"/>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重排序技术应用</a:t>
            </a:r>
            <a:endParaRPr lang="en-US" sz="1730"/>
          </a:p>
        </p:txBody>
      </p:sp>
      <p:sp>
        <p:nvSpPr>
          <p:cNvPr id="11" name="Text 7"/>
          <p:cNvSpPr/>
          <p:nvPr/>
        </p:nvSpPr>
        <p:spPr>
          <a:xfrm>
            <a:off x="4379396" y="2495302"/>
            <a:ext cx="252853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RAG中关键作用</a:t>
            </a:r>
            <a:endParaRPr lang="en-US" sz="1200"/>
          </a:p>
        </p:txBody>
      </p:sp>
      <p:sp>
        <p:nvSpPr>
          <p:cNvPr id="12" name="Text 8"/>
          <p:cNvSpPr/>
          <p:nvPr/>
        </p:nvSpPr>
        <p:spPr>
          <a:xfrm>
            <a:off x="9525" y="1543870"/>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13" name="Text 9"/>
          <p:cNvSpPr/>
          <p:nvPr/>
        </p:nvSpPr>
        <p:spPr>
          <a:xfrm>
            <a:off x="1149578" y="2495302"/>
            <a:ext cx="252853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主流实现方法</a:t>
            </a:r>
            <a:endParaRPr lang="en-US" sz="1200"/>
          </a:p>
        </p:txBody>
      </p:sp>
      <p:sp>
        <p:nvSpPr>
          <p:cNvPr id="14" name="Text 10"/>
          <p:cNvSpPr/>
          <p:nvPr/>
        </p:nvSpPr>
        <p:spPr>
          <a:xfrm>
            <a:off x="3523733" y="1444321"/>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15" name="Text 11"/>
          <p:cNvSpPr/>
          <p:nvPr/>
        </p:nvSpPr>
        <p:spPr>
          <a:xfrm>
            <a:off x="19050" y="2874203"/>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6" name="Text 12"/>
          <p:cNvSpPr/>
          <p:nvPr/>
        </p:nvSpPr>
        <p:spPr>
          <a:xfrm>
            <a:off x="3533258" y="2874203"/>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nodeType="afterGroup">
                            <p:stCondLst>
                              <p:cond delay="500"/>
                            </p:stCondLst>
                            <p:childTnLst>
                              <p:par>
                                <p:cTn id="15" presetID="10" presetClass="entr" presetSubtype="0" dur="750" fill="hold" grpId="4"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dur="750" fill="hold" grpId="5"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dur="750" fill="hold" grpId="7"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nodeType="afterGroup">
                            <p:stCondLst>
                              <p:cond delay="1000"/>
                            </p:stCondLst>
                            <p:childTnLst>
                              <p:par>
                                <p:cTn id="28" presetID="10" presetClass="entr" presetSubtype="0" dur="750" fill="hold" grpId="8"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dur="750" fill="hold" grpId="9"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dur="750" fill="hold" grpId="1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dur="750" fill="hold" grpId="11"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par>
                          <p:cTn id="40" fill="hold" nodeType="afterGroup">
                            <p:stCondLst>
                              <p:cond delay="1500"/>
                            </p:stCondLst>
                            <p:childTnLst>
                              <p:par>
                                <p:cTn id="41" presetID="10" presetClass="entr" presetSubtype="0" dur="750" fill="hold" grpId="12"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3" animBg="1"/>
      <p:bldP spid="5" grpId="11" animBg="1"/>
      <p:bldP spid="6" grpId="7" animBg="1"/>
      <p:bldP spid="7" grpId="6" animBg="1"/>
      <p:bldP spid="8" grpId="9" animBg="1"/>
      <p:bldP spid="9" grpId="2" animBg="1"/>
      <p:bldP spid="11" grpId="10" animBg="1"/>
      <p:bldP spid="12" grpId="1" animBg="1"/>
      <p:bldP spid="13" grpId="5" animBg="1"/>
      <p:bldP spid="14" grpId="8" animBg="1"/>
      <p:bldP spid="15" grpId="4" animBg="1"/>
      <p:bldP spid="16" grpId="12"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82401" y="993555"/>
            <a:ext cx="6664423"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600"/>
              </a:lnSpc>
              <a:buNone/>
            </a:pPr>
            <a:r>
              <a:rPr lang="en-US" sz="3000">
                <a:solidFill>
                  <a:srgbClr val="146266"/>
                </a:solidFill>
              </a:rPr>
              <a:t>第二章 系统设计与实现</a:t>
            </a:r>
            <a:endParaRPr lang="en-US" sz="3000"/>
          </a:p>
        </p:txBody>
      </p:sp>
      <p:sp>
        <p:nvSpPr>
          <p:cNvPr id="3" name="Text 1"/>
          <p:cNvSpPr/>
          <p:nvPr/>
        </p:nvSpPr>
        <p:spPr>
          <a:xfrm>
            <a:off x="2920801" y="564938"/>
            <a:ext cx="1787623" cy="304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436"/>
              </a:lnSpc>
              <a:buNone/>
            </a:pPr>
            <a:r>
              <a:rPr lang="en-US" sz="2030">
                <a:solidFill>
                  <a:srgbClr val="146266"/>
                </a:solidFill>
              </a:rPr>
              <a:t>Part.02</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d060f4ed8c420e9950060e3ef3d27e35.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4246" y="787914"/>
            <a:ext cx="4717009" cy="713715"/>
          </a:xfrm>
          <a:prstGeom prst="rect">
            <a:avLst/>
          </a:prstGeom>
        </p:spPr>
      </p:pic>
      <p:pic>
        <p:nvPicPr>
          <p:cNvPr id="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3771" y="1566204"/>
            <a:ext cx="4955181" cy="664527"/>
          </a:xfrm>
          <a:prstGeom prst="rect">
            <a:avLst/>
          </a:prstGeom>
        </p:spPr>
      </p:pic>
      <p:pic>
        <p:nvPicPr>
          <p:cNvPr id="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0968" y="2521323"/>
            <a:ext cx="2827936" cy="1262042"/>
          </a:xfrm>
          <a:prstGeom prst="rect">
            <a:avLst/>
          </a:prstGeom>
        </p:spPr>
      </p:pic>
      <p:pic>
        <p:nvPicPr>
          <p:cNvPr id="7"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19523" y="2515410"/>
            <a:ext cx="2827935" cy="1262042"/>
          </a:xfrm>
          <a:prstGeom prst="rect">
            <a:avLst/>
          </a:prstGeom>
        </p:spPr>
      </p:pic>
      <p:sp>
        <p:nvSpPr>
          <p:cNvPr id="8" name="Text 0"/>
          <p:cNvSpPr/>
          <p:nvPr/>
        </p:nvSpPr>
        <p:spPr>
          <a:xfrm>
            <a:off x="363896" y="1041962"/>
            <a:ext cx="4371966" cy="4231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05"/>
              </a:lnSpc>
              <a:buNone/>
            </a:pPr>
            <a:r>
              <a:rPr lang="en-US" sz="850">
                <a:solidFill>
                  <a:srgbClr val="333333"/>
                </a:solidFill>
                <a:latin typeface="SourceHanSansCN-Regular"/>
                <a:ea typeface="SourceHanSansCN-Regular"/>
                <a:cs typeface="SourceHanSansCN-Regular"/>
              </a:rPr>
              <a:t>系统采用典型的检索增强生成架构，整体上分为前端交互界面、后端处理引擎和底层数据存储三个层次。这种分层设计使得各部分职责清晰，易于维护和扩展，形成了一个松耦合、可扩展的问答系统。</a:t>
            </a:r>
            <a:endParaRPr lang="en-US" sz="850"/>
          </a:p>
        </p:txBody>
      </p:sp>
      <p:sp>
        <p:nvSpPr>
          <p:cNvPr id="9" name="Text 1"/>
          <p:cNvSpPr/>
          <p:nvPr/>
        </p:nvSpPr>
        <p:spPr>
          <a:xfrm>
            <a:off x="3977859" y="2869120"/>
            <a:ext cx="2435132" cy="74295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70"/>
              </a:lnSpc>
              <a:buNone/>
            </a:pPr>
            <a:r>
              <a:rPr lang="en-US" sz="900">
                <a:solidFill>
                  <a:srgbClr val="333333"/>
                </a:solidFill>
                <a:latin typeface="SourceHanSansCN-Regular"/>
                <a:ea typeface="SourceHanSansCN-Regular"/>
                <a:cs typeface="SourceHanSansCN-Regular"/>
              </a:rPr>
              <a:t>各模块之间通过清晰定义的接口进行数据交换和通信。例如，预处理模块的输出是检索模块的输入，而检索和重排序模块的结果则共同构成生成模块所需的上下文，保证了数据流的顺畅和一致。</a:t>
            </a:r>
            <a:endParaRPr lang="en-US" sz="900"/>
          </a:p>
        </p:txBody>
      </p:sp>
      <p:sp>
        <p:nvSpPr>
          <p:cNvPr id="10" name="Text 2"/>
          <p:cNvSpPr/>
          <p:nvPr/>
        </p:nvSpPr>
        <p:spPr>
          <a:xfrm>
            <a:off x="363045" y="793216"/>
            <a:ext cx="2254703" cy="189052"/>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69"/>
              </a:lnSpc>
              <a:buNone/>
            </a:pPr>
            <a:r>
              <a:rPr lang="en-US" sz="1130" b="1">
                <a:solidFill>
                  <a:srgbClr val="000000"/>
                </a:solidFill>
                <a:latin typeface="SourceHanSansCN-Regular"/>
                <a:ea typeface="SourceHanSansCN-Regular"/>
                <a:cs typeface="SourceHanSansCN-Regular"/>
              </a:rPr>
              <a:t>逻辑の架构！</a:t>
            </a:r>
            <a:endParaRPr lang="en-US" sz="1130"/>
          </a:p>
        </p:txBody>
      </p:sp>
      <p:sp>
        <p:nvSpPr>
          <p:cNvPr id="11" name="Text 3"/>
          <p:cNvSpPr/>
          <p:nvPr/>
        </p:nvSpPr>
        <p:spPr>
          <a:xfrm>
            <a:off x="621015" y="2632895"/>
            <a:ext cx="2385045" cy="2000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轰轰烈烈的工作流程！</a:t>
            </a:r>
            <a:endParaRPr lang="en-US" sz="1200"/>
          </a:p>
        </p:txBody>
      </p:sp>
      <p:sp>
        <p:nvSpPr>
          <p:cNvPr id="12" name="Text 4"/>
          <p:cNvSpPr/>
          <p:nvPr/>
        </p:nvSpPr>
        <p:spPr>
          <a:xfrm>
            <a:off x="3977859" y="2605368"/>
            <a:ext cx="2385045" cy="2000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模块的合作！</a:t>
            </a:r>
            <a:endParaRPr lang="en-US" sz="1200"/>
          </a:p>
        </p:txBody>
      </p:sp>
      <p:sp>
        <p:nvSpPr>
          <p:cNvPr id="13" name="Text 5"/>
          <p:cNvSpPr/>
          <p:nvPr/>
        </p:nvSpPr>
        <p:spPr>
          <a:xfrm>
            <a:off x="403818" y="284708"/>
            <a:ext cx="6821507" cy="25519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4"/>
              </a:lnSpc>
              <a:buNone/>
            </a:pPr>
            <a:r>
              <a:rPr lang="en-US" sz="1670">
                <a:solidFill>
                  <a:srgbClr val="000000"/>
                </a:solidFill>
                <a:latin typeface="思源黑体-加粗"/>
                <a:ea typeface="思源黑体-加粗"/>
                <a:cs typeface="思源黑体-加粗"/>
              </a:rPr>
              <a:t>系统整体架构</a:t>
            </a:r>
            <a:endParaRPr lang="en-US" sz="1670"/>
          </a:p>
        </p:txBody>
      </p:sp>
      <p:sp>
        <p:nvSpPr>
          <p:cNvPr id="14" name="Text 6"/>
          <p:cNvSpPr/>
          <p:nvPr/>
        </p:nvSpPr>
        <p:spPr>
          <a:xfrm>
            <a:off x="367637" y="1655325"/>
            <a:ext cx="2180250" cy="18136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30"/>
              </a:lnSpc>
              <a:buNone/>
            </a:pPr>
            <a:r>
              <a:rPr lang="en-US" sz="1100" b="1">
                <a:solidFill>
                  <a:srgbClr val="000000"/>
                </a:solidFill>
                <a:latin typeface="SourceHanSansCN-Regular"/>
                <a:ea typeface="SourceHanSansCN-Regular"/>
                <a:cs typeface="SourceHanSansCN-Regular"/>
              </a:rPr>
              <a:t>核心の模块！</a:t>
            </a:r>
            <a:endParaRPr lang="en-US" sz="1100"/>
          </a:p>
        </p:txBody>
      </p:sp>
      <p:sp>
        <p:nvSpPr>
          <p:cNvPr id="15" name="Text 7"/>
          <p:cNvSpPr/>
          <p:nvPr/>
        </p:nvSpPr>
        <p:spPr>
          <a:xfrm>
            <a:off x="621015" y="2890236"/>
            <a:ext cx="2435132" cy="74295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70"/>
              </a:lnSpc>
              <a:buNone/>
            </a:pPr>
            <a:r>
              <a:rPr lang="en-US" sz="900">
                <a:solidFill>
                  <a:srgbClr val="333333"/>
                </a:solidFill>
                <a:latin typeface="SourceHanSansCN-Regular"/>
                <a:ea typeface="SourceHanSansCN-Regular"/>
                <a:cs typeface="SourceHanSansCN-Regular"/>
              </a:rPr>
              <a:t>系统遵循“用户查询 → 文档检索 → 上下文整合 → 答案生成”的闭环。用户输入问题后，系统检索相关文档，整合为上下文，最后引导大语言模型生成结构化答案并返回给用户，整个过程自动化完成。</a:t>
            </a:r>
            <a:endParaRPr lang="en-US" sz="900"/>
          </a:p>
        </p:txBody>
      </p:sp>
      <p:sp>
        <p:nvSpPr>
          <p:cNvPr id="16" name="Text 8"/>
          <p:cNvSpPr/>
          <p:nvPr/>
        </p:nvSpPr>
        <p:spPr>
          <a:xfrm>
            <a:off x="368459" y="1894599"/>
            <a:ext cx="4642338" cy="27417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66"/>
              </a:lnSpc>
              <a:buNone/>
            </a:pPr>
            <a:r>
              <a:rPr lang="en-US" sz="820">
                <a:solidFill>
                  <a:srgbClr val="333333"/>
                </a:solidFill>
                <a:latin typeface="SourceHanSansCN-Regular"/>
                <a:ea typeface="SourceHanSansCN-Regular"/>
                <a:cs typeface="SourceHanSansCN-Regular"/>
              </a:rPr>
              <a:t>为支撑上述流程，系统在逻辑上划分为数据预处理模块、向量检索模块、重排序模块、生成模块和交互界面模块。每个模块负责RAG流程中的一个特定环节，共同协作完成问答任务。</a:t>
            </a:r>
            <a:endParaRPr lang="en-US" sz="82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dur="75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dur="750" fill="hold" grpId="4"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dur="750" fill="hold" grpId="5"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dur="75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dur="750" fill="hold" grpId="7"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dur="750" fill="hold" grpId="8"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dur="750" fill="hold" grpId="9"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dur="75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dur="750" fill="hold" grpId="11"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dur="750" fill="hold" grpId="12"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9" animBg="1"/>
      <p:bldP spid="9" grpId="12" animBg="1"/>
      <p:bldP spid="10" grpId="2" animBg="1"/>
      <p:bldP spid="11" grpId="4" animBg="1"/>
      <p:bldP spid="12" grpId="11" animBg="1"/>
      <p:bldP spid="14" grpId="7" animBg="1"/>
      <p:bldP spid="15" grpId="5" animBg="1"/>
      <p:bldP spid="16" grpId="8"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b1bd6bd58ba226aa75d5a4b11f4d3cfb.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1547917" y="929298"/>
            <a:ext cx="5965961" cy="32385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实验使用的原始数据为爬虫获取的微信公众号HTML文章，包含大量无关网页标签、广告和格式噪音。预处理首要任务是使用Python的BeautifulSoup库解析HTML，提取纯文本内容，移除所有非正文信息。</a:t>
            </a:r>
            <a:endParaRPr lang="en-US" sz="980"/>
          </a:p>
        </p:txBody>
      </p:sp>
      <p:sp>
        <p:nvSpPr>
          <p:cNvPr id="5" name="Text 1"/>
          <p:cNvSpPr/>
          <p:nvPr/>
        </p:nvSpPr>
        <p:spPr>
          <a:xfrm>
            <a:off x="1912265" y="3266363"/>
            <a:ext cx="5477267" cy="52387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这种方法既有效控制了每个文本块的长度，便于模型处理，又通过重叠区域确保了关键信息的完整性，如“白血病的诊断标准包括...”等关键信息能被完整地保留在一个语义单元中，提升检索质量。</a:t>
            </a:r>
            <a:endParaRPr lang="en-US" sz="1050"/>
          </a:p>
        </p:txBody>
      </p:sp>
      <p:sp>
        <p:nvSpPr>
          <p:cNvPr id="6" name="Text 2"/>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数据预处理</a:t>
            </a:r>
            <a:endParaRPr lang="en-US" sz="1730"/>
          </a:p>
        </p:txBody>
      </p:sp>
      <p:sp>
        <p:nvSpPr>
          <p:cNvPr id="7" name="Text 3"/>
          <p:cNvSpPr/>
          <p:nvPr/>
        </p:nvSpPr>
        <p:spPr>
          <a:xfrm>
            <a:off x="79877" y="1574612"/>
            <a:ext cx="1477220"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针对文档的切割！</a:t>
            </a:r>
            <a:endParaRPr lang="en-US" sz="1200"/>
          </a:p>
        </p:txBody>
      </p:sp>
      <p:sp>
        <p:nvSpPr>
          <p:cNvPr id="8" name="Text 4"/>
          <p:cNvSpPr/>
          <p:nvPr/>
        </p:nvSpPr>
        <p:spPr>
          <a:xfrm>
            <a:off x="1728892" y="2443163"/>
            <a:ext cx="5676365" cy="34766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为解决上述问题，我们采用了基于语义的切分策略。先使用句子分割器将文档拆分成句子序列，然后以固定大小的滑动窗口在序列上移动，形成有重叠的文本块，从而保证上下文的连贯性。</a:t>
            </a:r>
            <a:endParaRPr lang="en-US" sz="1050"/>
          </a:p>
        </p:txBody>
      </p:sp>
      <p:sp>
        <p:nvSpPr>
          <p:cNvPr id="9" name="Text 5"/>
          <p:cNvSpPr/>
          <p:nvPr/>
        </p:nvSpPr>
        <p:spPr>
          <a:xfrm>
            <a:off x="79877" y="929298"/>
            <a:ext cx="1477220"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原始数据大清洗！</a:t>
            </a:r>
            <a:endParaRPr lang="en-US" sz="1200"/>
          </a:p>
        </p:txBody>
      </p:sp>
      <p:sp>
        <p:nvSpPr>
          <p:cNvPr id="10" name="Text 6"/>
          <p:cNvSpPr/>
          <p:nvPr/>
        </p:nvSpPr>
        <p:spPr>
          <a:xfrm>
            <a:off x="79877" y="2416969"/>
            <a:ext cx="1658217" cy="2000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基于语义的分块政策！</a:t>
            </a:r>
            <a:endParaRPr lang="en-US" sz="1200"/>
          </a:p>
        </p:txBody>
      </p:sp>
      <p:sp>
        <p:nvSpPr>
          <p:cNvPr id="11" name="Text 7"/>
          <p:cNvSpPr/>
          <p:nvPr/>
        </p:nvSpPr>
        <p:spPr>
          <a:xfrm>
            <a:off x="91304" y="3266363"/>
            <a:ext cx="1803015" cy="2000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令众人满意的实施效果</a:t>
            </a:r>
            <a:endParaRPr lang="en-US" sz="1200"/>
          </a:p>
        </p:txBody>
      </p:sp>
      <p:sp>
        <p:nvSpPr>
          <p:cNvPr id="12" name="Text 8"/>
          <p:cNvSpPr/>
          <p:nvPr/>
        </p:nvSpPr>
        <p:spPr>
          <a:xfrm>
            <a:off x="1475626" y="1673633"/>
            <a:ext cx="6110759" cy="34766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33333"/>
                </a:solidFill>
                <a:latin typeface="SourceHanSansCN-Regular"/>
                <a:ea typeface="SourceHanSansCN-Regular"/>
                <a:cs typeface="SourceHanSansCN-Regular"/>
              </a:rPr>
              <a:t>对清洗后的长文档进行切分时，若采用简单的固定长度切分，极有可能将一个完整的医学概念或治疗方案割裂在不同文本块中，这将严重影响后续语义检索的准确性和召回知识的完整性。</a:t>
            </a:r>
            <a:endParaRPr lang="en-US" sz="10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dur="750" fill="hold" grpId="4"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dur="750" fill="hold" grpId="5"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dur="750" fill="hold" grpId="6"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dur="750" fill="hold" grpId="7"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dur="750" fill="hold" grpId="8"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2" animBg="1"/>
      <p:bldP spid="5" grpId="8" animBg="1"/>
      <p:bldP spid="7" grpId="3" animBg="1"/>
      <p:bldP spid="8" grpId="6" animBg="1"/>
      <p:bldP spid="9" grpId="1" animBg="1"/>
      <p:bldP spid="10" grpId="5" animBg="1"/>
      <p:bldP spid="11" grpId="7" animBg="1"/>
      <p:bldP spid="12" grpId="4"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749878530661f2a46fc9a51f6638feb6.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353268" y="2056560"/>
            <a:ext cx="161597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检索算法流程</a:t>
            </a:r>
            <a:endParaRPr lang="en-US" sz="1200"/>
          </a:p>
        </p:txBody>
      </p:sp>
      <p:sp>
        <p:nvSpPr>
          <p:cNvPr id="5" name="Text 1"/>
          <p:cNvSpPr/>
          <p:nvPr/>
        </p:nvSpPr>
        <p:spPr>
          <a:xfrm>
            <a:off x="3470864" y="2764632"/>
            <a:ext cx="3261852" cy="112676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81"/>
              </a:lnSpc>
              <a:buNone/>
            </a:pPr>
            <a:r>
              <a:rPr lang="en-US" sz="1370">
                <a:solidFill>
                  <a:srgbClr val="333333"/>
                </a:solidFill>
                <a:latin typeface="SourceHanSansCN-Regular"/>
                <a:ea typeface="SourceHanSansCN-Regular"/>
                <a:cs typeface="SourceHanSansCN-Regular"/>
              </a:rPr>
              <a:t>将预处理后的文本块（拼接“标题”和“摘要”）通过嵌入模型批量转换为384维的向量。然后，将这些向量及其对应的原始文本、元数据（如来源文件）批量插入ChromaDB集合中，完成数据索引。</a:t>
            </a:r>
            <a:endParaRPr lang="en-US" sz="1370"/>
          </a:p>
        </p:txBody>
      </p:sp>
      <p:sp>
        <p:nvSpPr>
          <p:cNvPr id="6" name="Text 2"/>
          <p:cNvSpPr/>
          <p:nvPr/>
        </p:nvSpPr>
        <p:spPr>
          <a:xfrm>
            <a:off x="3393707" y="2465271"/>
            <a:ext cx="161597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索引构建流程</a:t>
            </a:r>
            <a:endParaRPr lang="en-US" sz="1200"/>
          </a:p>
        </p:txBody>
      </p:sp>
      <p:sp>
        <p:nvSpPr>
          <p:cNvPr id="7" name="Text 3"/>
          <p:cNvSpPr/>
          <p:nvPr/>
        </p:nvSpPr>
        <p:spPr>
          <a:xfrm>
            <a:off x="5149633" y="894380"/>
            <a:ext cx="161597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嵌入模型选择</a:t>
            </a:r>
            <a:endParaRPr lang="en-US" sz="1200"/>
          </a:p>
        </p:txBody>
      </p:sp>
      <p:sp>
        <p:nvSpPr>
          <p:cNvPr id="8" name="Text 4"/>
          <p:cNvSpPr/>
          <p:nvPr/>
        </p:nvSpPr>
        <p:spPr>
          <a:xfrm>
            <a:off x="674764" y="1092421"/>
            <a:ext cx="2321352" cy="80096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61"/>
              </a:lnSpc>
              <a:buNone/>
            </a:pPr>
            <a:r>
              <a:rPr lang="en-US" sz="970">
                <a:solidFill>
                  <a:srgbClr val="333333"/>
                </a:solidFill>
                <a:latin typeface="SourceHanSansCN-Regular"/>
                <a:ea typeface="SourceHanSansCN-Regular"/>
                <a:cs typeface="SourceHanSansCN-Regular"/>
              </a:rPr>
              <a:t>我们选择ChromaDB作为轻量级向量数据库。在配置中，设置本地持久化目录，并创建名为medical_rag_chroma的集合。系统采用余弦相似度作为默认的距离度量方式，用于计算向量间的相似度。</a:t>
            </a:r>
            <a:endParaRPr lang="en-US" sz="970"/>
          </a:p>
        </p:txBody>
      </p:sp>
      <p:sp>
        <p:nvSpPr>
          <p:cNvPr id="9" name="Text 5"/>
          <p:cNvSpPr/>
          <p:nvPr/>
        </p:nvSpPr>
        <p:spPr>
          <a:xfrm>
            <a:off x="353268" y="2373214"/>
            <a:ext cx="2269101" cy="78286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35"/>
              </a:lnSpc>
              <a:buNone/>
            </a:pPr>
            <a:r>
              <a:rPr lang="en-US" sz="950">
                <a:solidFill>
                  <a:srgbClr val="333333"/>
                </a:solidFill>
                <a:latin typeface="SourceHanSansCN-Regular"/>
                <a:ea typeface="SourceHanSansCN-Regular"/>
                <a:cs typeface="SourceHanSansCN-Regular"/>
              </a:rPr>
              <a:t>当用户发起查询时，系统首先将查询文本转换为向量，然后调用ChromaDB的query接口，基于预建的HNSW索引进行近似最近邻搜索，在毫秒级时间内返回TOP_K个最相似的文档及其相似度分数。</a:t>
            </a:r>
            <a:endParaRPr lang="en-US" sz="950"/>
          </a:p>
        </p:txBody>
      </p:sp>
      <p:sp>
        <p:nvSpPr>
          <p:cNvPr id="10" name="Text 6"/>
          <p:cNvSpPr/>
          <p:nvPr/>
        </p:nvSpPr>
        <p:spPr>
          <a:xfrm>
            <a:off x="679846" y="795360"/>
            <a:ext cx="161597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ChromaDB配置</a:t>
            </a:r>
            <a:endParaRPr lang="en-US" sz="1200"/>
          </a:p>
        </p:txBody>
      </p:sp>
      <p:sp>
        <p:nvSpPr>
          <p:cNvPr id="11" name="Text 7"/>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向量检索模块设计</a:t>
            </a:r>
            <a:endParaRPr lang="en-US" sz="1730"/>
          </a:p>
        </p:txBody>
      </p:sp>
      <p:sp>
        <p:nvSpPr>
          <p:cNvPr id="12" name="Text 8"/>
          <p:cNvSpPr/>
          <p:nvPr/>
        </p:nvSpPr>
        <p:spPr>
          <a:xfrm>
            <a:off x="4952953" y="1161328"/>
            <a:ext cx="2608727" cy="90051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17"/>
              </a:lnSpc>
              <a:buNone/>
            </a:pPr>
            <a:r>
              <a:rPr lang="en-US" sz="1090">
                <a:solidFill>
                  <a:srgbClr val="333333"/>
                </a:solidFill>
                <a:latin typeface="SourceHanSansCN-Regular"/>
                <a:ea typeface="SourceHanSansCN-Regular"/>
                <a:cs typeface="SourceHanSansCN-Regular"/>
              </a:rPr>
              <a:t>考虑到计算资源有限，我们选用all-MiniLM-L6-v2作为嵌入模型。该模型在通用语义文本相似度任务上表现良好，且模型体积小、推理速度快，适合在本地CPU环境下进行快速原型开发和实验。</a:t>
            </a:r>
            <a:endParaRPr lang="en-US" sz="1090"/>
          </a:p>
        </p:txBody>
      </p:sp>
      <p:pic>
        <p:nvPicPr>
          <p:cNvPr id="13" name="Image 2" descr="https://oss.jianzeppt.com/image/spider/huaban/%E6%8F%92%E7%94%BB/3D%E6%8F%92%E5%9B%BE/angel-emoji-3d-icon-download-in-png-blend-fbx-gltf-file-formats--christmas-wings-face-pack-sign-symbols-icons-10685206.png"/>
          <p:cNvPicPr>
            <a:picLocks noChangeAspect="1"/>
          </p:cNvPicPr>
          <p:nvPr/>
        </p:nvPicPr>
        <p:blipFill>
          <a:blip r:embed="rId5"/>
          <a:stretch>
            <a:fillRect/>
          </a:stretch>
        </p:blipFill>
        <p:spPr>
          <a:xfrm>
            <a:off x="3376982" y="1302100"/>
            <a:ext cx="952500" cy="952500"/>
          </a:xfrm>
          <a:prstGeom prst="rect">
            <a:avLst/>
          </a:prstGeom>
        </p:spPr>
      </p:pic>
      <p:pic>
        <p:nvPicPr>
          <p:cNvPr id="14" name="Image 3" descr="https://oss.jianzeppt.com/image/spider/huaban/%E7%BA%BF%E6%9D%A1/%E6%89%8B%E7%BB%98%E7%AE%AD%E5%A4%B4/975dbf36d5e02a0f02d13cac052e959fcd8e8cc1d6a-PEMxmI_fw1200webp.webp?x-oss-process=image/format,png"/>
          <p:cNvPicPr>
            <a:picLocks noChangeAspect="1"/>
          </p:cNvPicPr>
          <p:nvPr/>
        </p:nvPicPr>
        <p:blipFill>
          <a:blip r:embed="rId6"/>
          <a:stretch>
            <a:fillRect/>
          </a:stretch>
        </p:blipFill>
        <p:spPr>
          <a:xfrm rot="19200000">
            <a:off x="3773926" y="894380"/>
            <a:ext cx="1523167" cy="942975"/>
          </a:xfrm>
          <a:prstGeom prst="rect">
            <a:avLst/>
          </a:prstGeom>
        </p:spPr>
      </p:pic>
      <p:pic>
        <p:nvPicPr>
          <p:cNvPr id="15" name="Image 4" descr="https://oss.jianzeppt.com/image/spider/huaban/%E7%BA%BF%E6%9D%A1/%E6%89%8B%E7%BB%98%E7%AE%AD%E5%A4%B4/975dbf36d5e02a0f02d13cac052e959fcd8e8cc1d6a-PEMxmI_fw1200webp.webp?x-oss-process=image/format,png"/>
          <p:cNvPicPr>
            <a:picLocks noChangeAspect="1"/>
          </p:cNvPicPr>
          <p:nvPr/>
        </p:nvPicPr>
        <p:blipFill>
          <a:blip r:embed="rId6"/>
          <a:stretch>
            <a:fillRect/>
          </a:stretch>
        </p:blipFill>
        <p:spPr>
          <a:xfrm rot="9120000">
            <a:off x="2338757" y="1817920"/>
            <a:ext cx="1523167" cy="942975"/>
          </a:xfrm>
          <a:prstGeom prst="rect">
            <a:avLst/>
          </a:prstGeom>
        </p:spPr>
      </p:pic>
      <p:pic>
        <p:nvPicPr>
          <p:cNvPr id="16" name="Image 5" descr="https://oss.jianzeppt.com/image/spider/huaban/%E7%BA%BF%E6%9D%A1/%E6%89%8B%E7%BB%98%E7%AE%AD%E5%A4%B4/975dbf36d5e02a0f02d13cac052e959fcd8e8cc1d6a-PEMxmI_fw1200webp.webp?x-oss-process=image/format,png"/>
          <p:cNvPicPr>
            <a:picLocks noChangeAspect="1"/>
          </p:cNvPicPr>
          <p:nvPr/>
        </p:nvPicPr>
        <p:blipFill>
          <a:blip r:embed="rId6"/>
          <a:stretch>
            <a:fillRect/>
          </a:stretch>
        </p:blipFill>
        <p:spPr>
          <a:xfrm rot="11940000">
            <a:off x="2756179" y="863696"/>
            <a:ext cx="971550" cy="1228725"/>
          </a:xfrm>
          <a:prstGeom prst="rect">
            <a:avLst/>
          </a:prstGeom>
        </p:spPr>
      </p:pic>
      <p:pic>
        <p:nvPicPr>
          <p:cNvPr id="17" name="Image 6" descr="https://oss.jianzeppt.com/image/spider/huaban/%E7%BA%BF%E6%9D%A1/%E6%89%8B%E7%BB%98%E7%AE%AD%E5%A4%B4/975dbf36d5e02a0f02d13cac052e959fcd8e8cc1d6a-PEMxmI_fw1200webp.webp?x-oss-process=image/format,png"/>
          <p:cNvPicPr>
            <a:picLocks noChangeAspect="1"/>
          </p:cNvPicPr>
          <p:nvPr/>
        </p:nvPicPr>
        <p:blipFill>
          <a:blip r:embed="rId6"/>
          <a:stretch>
            <a:fillRect/>
          </a:stretch>
        </p:blipFill>
        <p:spPr>
          <a:xfrm rot="2880000">
            <a:off x="3854441" y="2007855"/>
            <a:ext cx="1110677" cy="6876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dur="750" fill="hold" grpId="4"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dur="750" fill="hold" grpId="5"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dur="750" fill="hold" grpId="6"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dur="750" fill="hold" grpId="7"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dur="750" fill="hold" grpId="8"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7" animBg="1"/>
      <p:bldP spid="5" grpId="6" animBg="1"/>
      <p:bldP spid="6" grpId="5" animBg="1"/>
      <p:bldP spid="7" grpId="3" animBg="1"/>
      <p:bldP spid="8" grpId="2" animBg="1"/>
      <p:bldP spid="9" grpId="8" animBg="1"/>
      <p:bldP spid="10" grpId="1" animBg="1"/>
      <p:bldP spid="12" grpId="4"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4c4a78abf63683a3563c6b31e5a6fe52.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240296" y="895192"/>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5" name="Text 1"/>
          <p:cNvSpPr/>
          <p:nvPr/>
        </p:nvSpPr>
        <p:spPr>
          <a:xfrm>
            <a:off x="968655" y="2905686"/>
            <a:ext cx="1765925" cy="68088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79"/>
              </a:lnSpc>
              <a:buNone/>
            </a:pPr>
            <a:r>
              <a:rPr lang="en-US" sz="830">
                <a:solidFill>
                  <a:srgbClr val="333333"/>
                </a:solidFill>
                <a:latin typeface="SourceHanSansCN-Regular"/>
                <a:ea typeface="SourceHanSansCN-Regular"/>
                <a:cs typeface="SourceHanSansCN-Regular"/>
              </a:rPr>
              <a:t>在主流程中，系统会加载该重排序模型。对于每一个初步检索到的文档，模型都会计算其与原始查询的相关性分数。这个分数能更精确地反映文档内容与用户真实意图的匹配程度。</a:t>
            </a:r>
            <a:endParaRPr lang="en-US" sz="830"/>
          </a:p>
        </p:txBody>
      </p:sp>
      <p:sp>
        <p:nvSpPr>
          <p:cNvPr id="6" name="Text 2"/>
          <p:cNvSpPr/>
          <p:nvPr/>
        </p:nvSpPr>
        <p:spPr>
          <a:xfrm>
            <a:off x="-137928" y="2556173"/>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7" name="Text 3"/>
          <p:cNvSpPr/>
          <p:nvPr/>
        </p:nvSpPr>
        <p:spPr>
          <a:xfrm>
            <a:off x="4498026" y="697151"/>
            <a:ext cx="176092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404040"/>
                </a:solidFill>
                <a:latin typeface="SourceHanSansCN-Regular"/>
                <a:ea typeface="SourceHanSansCN-Regular"/>
                <a:cs typeface="SourceHanSansCN-Regular"/>
              </a:rPr>
              <a:t>交叉编码器模型</a:t>
            </a:r>
            <a:endParaRPr lang="en-US" sz="1200"/>
          </a:p>
        </p:txBody>
      </p:sp>
      <p:sp>
        <p:nvSpPr>
          <p:cNvPr id="8" name="Text 4"/>
          <p:cNvSpPr/>
          <p:nvPr/>
        </p:nvSpPr>
        <p:spPr>
          <a:xfrm>
            <a:off x="3324850" y="681050"/>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9" name="Text 5"/>
          <p:cNvSpPr/>
          <p:nvPr/>
        </p:nvSpPr>
        <p:spPr>
          <a:xfrm>
            <a:off x="703835" y="895192"/>
            <a:ext cx="176092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404040"/>
                </a:solidFill>
                <a:latin typeface="SourceHanSansCN-Regular"/>
                <a:ea typeface="SourceHanSansCN-Regular"/>
                <a:cs typeface="SourceHanSansCN-Regular"/>
              </a:rPr>
              <a:t>核心目的</a:t>
            </a:r>
            <a:endParaRPr lang="en-US" sz="1200"/>
          </a:p>
        </p:txBody>
      </p:sp>
      <p:sp>
        <p:nvSpPr>
          <p:cNvPr id="10" name="Text 6"/>
          <p:cNvSpPr/>
          <p:nvPr/>
        </p:nvSpPr>
        <p:spPr>
          <a:xfrm>
            <a:off x="3375918" y="2752195"/>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
        <p:nvSpPr>
          <p:cNvPr id="11" name="Text 7"/>
          <p:cNvSpPr/>
          <p:nvPr/>
        </p:nvSpPr>
        <p:spPr>
          <a:xfrm>
            <a:off x="4207657" y="988033"/>
            <a:ext cx="1765925" cy="6191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333333"/>
                </a:solidFill>
                <a:latin typeface="SourceHanSansCN-Regular"/>
                <a:ea typeface="SourceHanSansCN-Regular"/>
                <a:cs typeface="SourceHanSansCN-Regular"/>
              </a:rPr>
              <a:t>本系统集成了BAAI/bge-reranker-base模型作为交叉编码器。与双编码器不同，它将查询和单个候选文档拼接后输入模型，通过深层注意力机制直接计算二者的全局相关性得分，精度更高。</a:t>
            </a:r>
            <a:endParaRPr lang="en-US" sz="750"/>
          </a:p>
        </p:txBody>
      </p:sp>
      <p:sp>
        <p:nvSpPr>
          <p:cNvPr id="12" name="Text 8"/>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重排序模块设计</a:t>
            </a:r>
            <a:endParaRPr lang="en-US" sz="1730"/>
          </a:p>
        </p:txBody>
      </p:sp>
      <p:sp>
        <p:nvSpPr>
          <p:cNvPr id="13" name="Text 9"/>
          <p:cNvSpPr/>
          <p:nvPr/>
        </p:nvSpPr>
        <p:spPr>
          <a:xfrm>
            <a:off x="4408685" y="2665116"/>
            <a:ext cx="176092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404040"/>
                </a:solidFill>
                <a:latin typeface="SourceHanSansCN-Regular"/>
                <a:ea typeface="SourceHanSansCN-Regular"/>
                <a:cs typeface="SourceHanSansCN-Regular"/>
              </a:rPr>
              <a:t>过滤与精炼策略</a:t>
            </a:r>
            <a:endParaRPr lang="en-US" sz="1200"/>
          </a:p>
        </p:txBody>
      </p:sp>
      <p:sp>
        <p:nvSpPr>
          <p:cNvPr id="14" name="Text 10"/>
          <p:cNvSpPr/>
          <p:nvPr/>
        </p:nvSpPr>
        <p:spPr>
          <a:xfrm>
            <a:off x="4408686" y="3021887"/>
            <a:ext cx="1765925" cy="6191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333333"/>
                </a:solidFill>
                <a:latin typeface="SourceHanSansCN-Regular"/>
                <a:ea typeface="SourceHanSansCN-Regular"/>
                <a:cs typeface="SourceHanSansCN-Regular"/>
              </a:rPr>
              <a:t>所有文档依据此分数进行降序排列，我们仅选取分数最高的TOP_N个（实验中设为20）文档作为最终提供给生成模型的上下文。这一策略有效过滤了噪声，显著提升了输入上下文的整体相关性。</a:t>
            </a:r>
            <a:endParaRPr lang="en-US" sz="750"/>
          </a:p>
        </p:txBody>
      </p:sp>
      <p:sp>
        <p:nvSpPr>
          <p:cNvPr id="15" name="Text 11"/>
          <p:cNvSpPr/>
          <p:nvPr/>
        </p:nvSpPr>
        <p:spPr>
          <a:xfrm>
            <a:off x="698775" y="1297595"/>
            <a:ext cx="1765925" cy="6191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333333"/>
                </a:solidFill>
                <a:latin typeface="SourceHanSansCN-Regular"/>
                <a:ea typeface="SourceHanSansCN-Regular"/>
                <a:cs typeface="SourceHanSansCN-Regular"/>
              </a:rPr>
              <a:t>初步的向量检索可能返回多达50个相关度不一的文档，直接全部送入生成模型会引入噪声，影响答案质量和生成速度。因此，我们引入重排序模块对初步检索结果进行二次精炼，筛选出最相关的上下文。</a:t>
            </a:r>
            <a:endParaRPr lang="en-US" sz="750"/>
          </a:p>
        </p:txBody>
      </p:sp>
      <p:sp>
        <p:nvSpPr>
          <p:cNvPr id="16" name="Text 12"/>
          <p:cNvSpPr/>
          <p:nvPr/>
        </p:nvSpPr>
        <p:spPr>
          <a:xfrm>
            <a:off x="1008669" y="2467075"/>
            <a:ext cx="176092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404040"/>
                </a:solidFill>
                <a:latin typeface="SourceHanSansCN-Regular"/>
                <a:ea typeface="SourceHanSansCN-Regular"/>
                <a:cs typeface="SourceHanSansCN-Regular"/>
              </a:rPr>
              <a:t>精准排序实现</a:t>
            </a:r>
            <a:endParaRPr lang="en-US" sz="12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nodeType="afterGroup">
                            <p:stCondLst>
                              <p:cond delay="500"/>
                            </p:stCondLst>
                            <p:childTnLst>
                              <p:par>
                                <p:cTn id="9" presetID="10" presetClass="entr" presetSubtype="0" dur="750" fill="hold" grpId="2"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dur="750" fill="hold" grpId="3"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dur="750" fill="hold" grpId="4"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nodeType="afterGroup">
                            <p:stCondLst>
                              <p:cond delay="1000"/>
                            </p:stCondLst>
                            <p:childTnLst>
                              <p:par>
                                <p:cTn id="19" presetID="10" presetClass="entr" presetSubtype="0" dur="750" fill="hold" grpId="5"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dur="750" fill="hold" grpId="6"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dur="750" fill="hold" grpId="7"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par>
                          <p:cTn id="28" fill="hold" nodeType="afterGroup">
                            <p:stCondLst>
                              <p:cond delay="1500"/>
                            </p:stCondLst>
                            <p:childTnLst>
                              <p:par>
                                <p:cTn id="29" presetID="10" presetClass="entr" presetSubtype="0" dur="750" fill="hold" grpId="8"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dur="750" fill="hold" grpId="9"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dur="750" fill="hold" grpId="1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dur="750" fill="hold" grpId="11"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dur="750" fill="hold" grpId="12"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5" grpId="10" animBg="1"/>
      <p:bldP spid="6" grpId="5" animBg="1"/>
      <p:bldP spid="7" grpId="6" animBg="1"/>
      <p:bldP spid="8" grpId="2" animBg="1"/>
      <p:bldP spid="9" grpId="3" animBg="1"/>
      <p:bldP spid="10" grpId="8" animBg="1"/>
      <p:bldP spid="11" grpId="7" animBg="1"/>
      <p:bldP spid="13" grpId="11" animBg="1"/>
      <p:bldP spid="14" grpId="12" animBg="1"/>
      <p:bldP spid="15" grpId="4" animBg="1"/>
      <p:bldP spid="16" grpId="9"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0c0d002306b303a0e17335738be2be7c.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455305" y="76522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5" name="Text 1"/>
          <p:cNvSpPr/>
          <p:nvPr/>
        </p:nvSpPr>
        <p:spPr>
          <a:xfrm>
            <a:off x="4032132" y="76522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6" name="Text 2"/>
          <p:cNvSpPr/>
          <p:nvPr/>
        </p:nvSpPr>
        <p:spPr>
          <a:xfrm>
            <a:off x="2276118" y="76522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7" name="Text 3"/>
          <p:cNvSpPr/>
          <p:nvPr/>
        </p:nvSpPr>
        <p:spPr>
          <a:xfrm>
            <a:off x="5915273" y="76522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
        <p:nvSpPr>
          <p:cNvPr id="8" name="Text 4"/>
          <p:cNvSpPr/>
          <p:nvPr/>
        </p:nvSpPr>
        <p:spPr>
          <a:xfrm>
            <a:off x="3894222" y="1242123"/>
            <a:ext cx="134293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多轮对话机制</a:t>
            </a:r>
            <a:endParaRPr lang="en-US" sz="1200"/>
          </a:p>
        </p:txBody>
      </p:sp>
      <p:sp>
        <p:nvSpPr>
          <p:cNvPr id="9" name="Text 5"/>
          <p:cNvSpPr/>
          <p:nvPr/>
        </p:nvSpPr>
        <p:spPr>
          <a:xfrm>
            <a:off x="5872907" y="1467313"/>
            <a:ext cx="1342933" cy="155912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通过将历史对话信息融入当前查询，模型在生成当前答案时能够参考之前的交互内容，从而使得回答更具连贯性，能够正确理解“它”、“那个”等指代词，并围绕同一主题进行深入探讨。</a:t>
            </a:r>
            <a:endParaRPr lang="en-US" sz="1050"/>
          </a:p>
        </p:txBody>
      </p:sp>
      <p:sp>
        <p:nvSpPr>
          <p:cNvPr id="10" name="Text 6"/>
          <p:cNvSpPr/>
          <p:nvPr/>
        </p:nvSpPr>
        <p:spPr>
          <a:xfrm>
            <a:off x="412938" y="1205923"/>
            <a:ext cx="134293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生成模型选择</a:t>
            </a:r>
            <a:endParaRPr lang="en-US" sz="1200"/>
          </a:p>
        </p:txBody>
      </p:sp>
      <p:sp>
        <p:nvSpPr>
          <p:cNvPr id="11" name="Text 7"/>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生成模块设计</a:t>
            </a:r>
            <a:endParaRPr lang="en-US" sz="1730"/>
          </a:p>
        </p:txBody>
      </p:sp>
      <p:sp>
        <p:nvSpPr>
          <p:cNvPr id="12" name="Text 8"/>
          <p:cNvSpPr/>
          <p:nvPr/>
        </p:nvSpPr>
        <p:spPr>
          <a:xfrm>
            <a:off x="2233751" y="1478186"/>
            <a:ext cx="1342933"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为引导模型基于给定上下文生成答案，而非依赖其内部知识产生“幻觉”，我们设计了结构化的提示模板。模板明确指示模型：“请根据以下提供的医学资料回答问题：[拼接的文档内容] 问题：[用户问题] 答案：”。</a:t>
            </a:r>
            <a:endParaRPr lang="en-US" sz="1050"/>
          </a:p>
        </p:txBody>
      </p:sp>
      <p:sp>
        <p:nvSpPr>
          <p:cNvPr id="13" name="Text 9"/>
          <p:cNvSpPr/>
          <p:nvPr/>
        </p:nvSpPr>
        <p:spPr>
          <a:xfrm>
            <a:off x="4032132" y="1466718"/>
            <a:ext cx="1342933"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为支持连续问答，系统使用Streamlit的session_state功能来维护一个对话历史列表。每一轮新的查询都会与此前的对话历史合并，共同构成一个包含上下文的新搜索查询，以处理指代和关联问题。</a:t>
            </a:r>
            <a:endParaRPr lang="en-US" sz="1050"/>
          </a:p>
        </p:txBody>
      </p:sp>
      <p:sp>
        <p:nvSpPr>
          <p:cNvPr id="14" name="Text 10"/>
          <p:cNvSpPr/>
          <p:nvPr/>
        </p:nvSpPr>
        <p:spPr>
          <a:xfrm>
            <a:off x="5753097" y="1225726"/>
            <a:ext cx="134293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上下文连贯性</a:t>
            </a:r>
            <a:endParaRPr lang="en-US" sz="1200"/>
          </a:p>
        </p:txBody>
      </p:sp>
      <p:sp>
        <p:nvSpPr>
          <p:cNvPr id="15" name="Text 11"/>
          <p:cNvSpPr/>
          <p:nvPr/>
        </p:nvSpPr>
        <p:spPr>
          <a:xfrm>
            <a:off x="520873" y="1515648"/>
            <a:ext cx="1342933" cy="15621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为简化部署和教学演示，本实验选用开源的gpt2模型作为生成器。通过Hugging Face的Transformers库加载模型和对应的分词器，该模型虽然基础，但足以验证RAG框架的有效性。</a:t>
            </a:r>
            <a:endParaRPr lang="en-US" sz="1050"/>
          </a:p>
        </p:txBody>
      </p:sp>
      <p:sp>
        <p:nvSpPr>
          <p:cNvPr id="16" name="Text 12"/>
          <p:cNvSpPr/>
          <p:nvPr/>
        </p:nvSpPr>
        <p:spPr>
          <a:xfrm>
            <a:off x="2133511" y="1214973"/>
            <a:ext cx="134293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结构化提示工程</a:t>
            </a:r>
            <a:endParaRPr lang="en-US" sz="12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nodeType="afterGroup">
                            <p:stCondLst>
                              <p:cond delay="500"/>
                            </p:stCondLst>
                            <p:childTnLst>
                              <p:par>
                                <p:cTn id="9" presetID="10" presetClass="entr" presetSubtype="0" dur="750" fill="hold" grpId="2"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nodeType="afterGroup">
                            <p:stCondLst>
                              <p:cond delay="1000"/>
                            </p:stCondLst>
                            <p:childTnLst>
                              <p:par>
                                <p:cTn id="13" presetID="10" presetClass="entr" presetSubtype="0" dur="750" fill="hold" grpId="3"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nodeType="afterGroup">
                            <p:stCondLst>
                              <p:cond delay="1500"/>
                            </p:stCondLst>
                            <p:childTnLst>
                              <p:par>
                                <p:cTn id="17" presetID="10" presetClass="entr" presetSubtype="0" dur="750" fill="hold" grpId="4"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5" grpId="3" animBg="1"/>
      <p:bldP spid="6" grpId="2" animBg="1"/>
      <p:bldP spid="7" grpId="4"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863d13da0a792655556249005f538101.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03087" y="1068461"/>
            <a:ext cx="2827935" cy="1262042"/>
          </a:xfrm>
          <a:prstGeom prst="rect">
            <a:avLst/>
          </a:prstGeom>
        </p:spPr>
      </p:pic>
      <p:pic>
        <p:nvPicPr>
          <p:cNvPr id="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9571" y="2633059"/>
            <a:ext cx="2827936" cy="1262042"/>
          </a:xfrm>
          <a:prstGeom prst="rect">
            <a:avLst/>
          </a:prstGeom>
        </p:spPr>
      </p:pic>
      <p:pic>
        <p:nvPicPr>
          <p:cNvPr id="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03087" y="2633059"/>
            <a:ext cx="2827935" cy="1262042"/>
          </a:xfrm>
          <a:prstGeom prst="rect">
            <a:avLst/>
          </a:prstGeom>
        </p:spPr>
      </p:pic>
      <p:pic>
        <p:nvPicPr>
          <p:cNvPr id="7"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9571" y="1049782"/>
            <a:ext cx="2827936" cy="1262042"/>
          </a:xfrm>
          <a:prstGeom prst="rect">
            <a:avLst/>
          </a:prstGeom>
        </p:spPr>
      </p:pic>
      <p:pic>
        <p:nvPicPr>
          <p:cNvPr id="8"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00914" y="2521655"/>
            <a:ext cx="220894" cy="220894"/>
          </a:xfrm>
          <a:prstGeom prst="rect">
            <a:avLst/>
          </a:prstGeom>
        </p:spPr>
      </p:pic>
      <p:sp>
        <p:nvSpPr>
          <p:cNvPr id="9" name="Text 0"/>
          <p:cNvSpPr/>
          <p:nvPr/>
        </p:nvSpPr>
        <p:spPr>
          <a:xfrm>
            <a:off x="847908" y="1422170"/>
            <a:ext cx="2435132"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用户交互界面基于Streamlit框架构建，其设计目标是直观、易用。界面主体分为两大区域：主区域是对话区，以聊天气泡形式展示对话历史；侧边栏是系统信息区，展示当前系统配置，增加透明度。</a:t>
            </a:r>
            <a:endParaRPr lang="en-US" sz="980"/>
          </a:p>
        </p:txBody>
      </p:sp>
      <p:sp>
        <p:nvSpPr>
          <p:cNvPr id="10" name="Text 1"/>
          <p:cNvSpPr/>
          <p:nvPr/>
        </p:nvSpPr>
        <p:spPr>
          <a:xfrm>
            <a:off x="4061424" y="2986768"/>
            <a:ext cx="2435132"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系统在生成基于上下文的答案后，还会调用一个独立的函数生成一个不依赖任何外部文档的对照答案。将两个答案并列展示，可以直观地对比出RAG技术在减少“幻觉”、提升事实准确性方面的显著效果。</a:t>
            </a:r>
            <a:endParaRPr lang="en-US" sz="980"/>
          </a:p>
        </p:txBody>
      </p:sp>
      <p:sp>
        <p:nvSpPr>
          <p:cNvPr id="11" name="Text 2"/>
          <p:cNvSpPr/>
          <p:nvPr/>
        </p:nvSpPr>
        <p:spPr>
          <a:xfrm>
            <a:off x="847007" y="1167602"/>
            <a:ext cx="2385045"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界面框架与布局</a:t>
            </a:r>
            <a:endParaRPr lang="en-US" sz="1200"/>
          </a:p>
        </p:txBody>
      </p:sp>
      <p:sp>
        <p:nvSpPr>
          <p:cNvPr id="12" name="Text 3"/>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用户交互界面设计</a:t>
            </a:r>
            <a:endParaRPr lang="en-US" sz="1730"/>
          </a:p>
        </p:txBody>
      </p:sp>
      <p:sp>
        <p:nvSpPr>
          <p:cNvPr id="13" name="Text 4"/>
          <p:cNvSpPr/>
          <p:nvPr/>
        </p:nvSpPr>
        <p:spPr>
          <a:xfrm>
            <a:off x="847007" y="2732200"/>
            <a:ext cx="2385045"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实时状态反馈</a:t>
            </a:r>
            <a:endParaRPr lang="en-US" sz="1200"/>
          </a:p>
        </p:txBody>
      </p:sp>
      <p:sp>
        <p:nvSpPr>
          <p:cNvPr id="14" name="Text 5"/>
          <p:cNvSpPr/>
          <p:nvPr/>
        </p:nvSpPr>
        <p:spPr>
          <a:xfrm>
            <a:off x="4060523" y="2732200"/>
            <a:ext cx="2385045"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RAG效果直观对比</a:t>
            </a:r>
            <a:endParaRPr lang="en-US" sz="1200"/>
          </a:p>
        </p:txBody>
      </p:sp>
      <p:sp>
        <p:nvSpPr>
          <p:cNvPr id="15" name="Text 6"/>
          <p:cNvSpPr/>
          <p:nvPr/>
        </p:nvSpPr>
        <p:spPr>
          <a:xfrm>
            <a:off x="4060523" y="1167602"/>
            <a:ext cx="2385045"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答案可追溯性设计</a:t>
            </a:r>
            <a:endParaRPr lang="en-US" sz="1200"/>
          </a:p>
        </p:txBody>
      </p:sp>
      <p:sp>
        <p:nvSpPr>
          <p:cNvPr id="16" name="Text 7"/>
          <p:cNvSpPr/>
          <p:nvPr/>
        </p:nvSpPr>
        <p:spPr>
          <a:xfrm>
            <a:off x="847908" y="2986768"/>
            <a:ext cx="2435132"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当用户输入问题后，界面会通过动态的st.spinner提示框实时反馈系统当前状态，如“正在搜索相关文档...”、“正在生成答案...”，这减少了用户的等待焦虑，提升了交互体验。</a:t>
            </a:r>
            <a:endParaRPr lang="en-US" sz="980"/>
          </a:p>
        </p:txBody>
      </p:sp>
      <p:sp>
        <p:nvSpPr>
          <p:cNvPr id="17" name="Text 8"/>
          <p:cNvSpPr/>
          <p:nvPr/>
        </p:nvSpPr>
        <p:spPr>
          <a:xfrm>
            <a:off x="4061424" y="1422170"/>
            <a:ext cx="2435132"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74"/>
              </a:lnSpc>
              <a:buNone/>
            </a:pPr>
            <a:r>
              <a:rPr lang="en-US" sz="980">
                <a:solidFill>
                  <a:srgbClr val="333333"/>
                </a:solidFill>
                <a:latin typeface="SourceHanSansCN-Regular"/>
                <a:ea typeface="SourceHanSansCN-Regular"/>
                <a:cs typeface="SourceHanSansCN-Regular"/>
              </a:rPr>
              <a:t>检索到的相关文档会以可折叠的“展开器”形式展示在最终答案之前。用户可以点击查看每条参考文档的标题和详细摘要，这极大地增强了答案的可追溯性和用户对系统结果的信任感。</a:t>
            </a:r>
            <a:endParaRPr lang="en-US" sz="98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dur="75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dur="75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dur="75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dur="750" fill="hold" grpId="5"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dur="750" fill="hold" grpId="6"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dur="75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dur="750" fill="hold" grpId="8"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dur="750" fill="hold" grpId="9"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dur="750" fill="hold" grpId="1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dur="75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dur="750" fill="hold" grpId="12"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dur="750" fill="hold" grpId="13"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0" animBg="1"/>
      <p:bldP spid="10" grpId="13" animBg="1"/>
      <p:bldP spid="11" grpId="1" animBg="1"/>
      <p:bldP spid="13" grpId="5" animBg="1"/>
      <p:bldP spid="14" grpId="12" animBg="1"/>
      <p:bldP spid="15" grpId="8" animBg="1"/>
      <p:bldP spid="16" grpId="6" animBg="1"/>
      <p:bldP spid="17" grpId="9"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82401" y="993555"/>
            <a:ext cx="6664423"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600"/>
              </a:lnSpc>
              <a:buNone/>
            </a:pPr>
            <a:r>
              <a:rPr lang="en-US" sz="3000">
                <a:solidFill>
                  <a:srgbClr val="146266"/>
                </a:solidFill>
              </a:rPr>
              <a:t>实验与结果分析</a:t>
            </a:r>
            <a:endParaRPr lang="en-US" sz="3000"/>
          </a:p>
        </p:txBody>
      </p:sp>
      <p:sp>
        <p:nvSpPr>
          <p:cNvPr id="3" name="Text 1"/>
          <p:cNvSpPr/>
          <p:nvPr/>
        </p:nvSpPr>
        <p:spPr>
          <a:xfrm>
            <a:off x="2920801" y="564938"/>
            <a:ext cx="1787623" cy="304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436"/>
              </a:lnSpc>
              <a:buNone/>
            </a:pPr>
            <a:r>
              <a:rPr lang="en-US" sz="2030">
                <a:solidFill>
                  <a:srgbClr val="146266"/>
                </a:solidFill>
              </a:rPr>
              <a:t>Part.03</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29d9ee487a42014c5a155772586692cb.png"/>
          <p:cNvPicPr>
            <a:picLocks noChangeAspect="1"/>
          </p:cNvPicPr>
          <p:nvPr/>
        </p:nvPicPr>
        <p:blipFill>
          <a:blip r:embed="rId4"/>
          <a:stretch>
            <a:fillRect/>
          </a:stretch>
        </p:blipFill>
        <p:spPr>
          <a:xfrm>
            <a:off x="0" y="168514"/>
            <a:ext cx="4408714" cy="474257"/>
          </a:xfrm>
          <a:prstGeom prst="rect">
            <a:avLst/>
          </a:prstGeom>
        </p:spPr>
      </p:pic>
      <p:pic>
        <p:nvPicPr>
          <p:cNvPr id="4" name="Image 2" descr="https://test.web.static.jianzeppt.com/ppt-temp-img3/5797bd46fe3fd5995fd7d152a30f8d8c.png"/>
          <p:cNvPicPr>
            <a:picLocks noChangeAspect="1"/>
          </p:cNvPicPr>
          <p:nvPr/>
        </p:nvPicPr>
        <p:blipFill>
          <a:blip r:embed="rId5"/>
          <a:stretch>
            <a:fillRect/>
          </a:stretch>
        </p:blipFill>
        <p:spPr>
          <a:xfrm>
            <a:off x="2826751" y="1386848"/>
            <a:ext cx="291360" cy="291360"/>
          </a:xfrm>
          <a:prstGeom prst="rect">
            <a:avLst/>
          </a:prstGeom>
        </p:spPr>
      </p:pic>
      <p:pic>
        <p:nvPicPr>
          <p:cNvPr id="5" name="Image 3" descr="https://test.web.static.jianzeppt.com/ppt-temp-img3/27137947d3db00035d123c5904c895c7.png"/>
          <p:cNvPicPr>
            <a:picLocks noChangeAspect="1"/>
          </p:cNvPicPr>
          <p:nvPr/>
        </p:nvPicPr>
        <p:blipFill>
          <a:blip r:embed="rId6"/>
          <a:stretch>
            <a:fillRect/>
          </a:stretch>
        </p:blipFill>
        <p:spPr>
          <a:xfrm>
            <a:off x="4501889" y="1386848"/>
            <a:ext cx="291361" cy="291360"/>
          </a:xfrm>
          <a:prstGeom prst="rect">
            <a:avLst/>
          </a:prstGeom>
        </p:spPr>
      </p:pic>
      <p:pic>
        <p:nvPicPr>
          <p:cNvPr id="6" name="Image 4" descr="https://test.web.static.jianzeppt.com/ppt-temp-img3/3b0c952fd2dc9d3eeb385be23690955a.png"/>
          <p:cNvPicPr>
            <a:picLocks noChangeAspect="1"/>
          </p:cNvPicPr>
          <p:nvPr/>
        </p:nvPicPr>
        <p:blipFill>
          <a:blip r:embed="rId7"/>
          <a:stretch>
            <a:fillRect/>
          </a:stretch>
        </p:blipFill>
        <p:spPr>
          <a:xfrm>
            <a:off x="2826751" y="3061989"/>
            <a:ext cx="291360" cy="291359"/>
          </a:xfrm>
          <a:prstGeom prst="rect">
            <a:avLst/>
          </a:prstGeom>
        </p:spPr>
      </p:pic>
      <p:pic>
        <p:nvPicPr>
          <p:cNvPr id="7" name="Image 5" descr="https://test.web.static.jianzeppt.com/ppt-temp-img3/2c43bb3e5e81c343bfdc0bc13294f985.png"/>
          <p:cNvPicPr>
            <a:picLocks noChangeAspect="1"/>
          </p:cNvPicPr>
          <p:nvPr/>
        </p:nvPicPr>
        <p:blipFill>
          <a:blip r:embed="rId8"/>
          <a:stretch>
            <a:fillRect/>
          </a:stretch>
        </p:blipFill>
        <p:spPr>
          <a:xfrm>
            <a:off x="4501889" y="3061989"/>
            <a:ext cx="291361" cy="291359"/>
          </a:xfrm>
          <a:prstGeom prst="rect">
            <a:avLst/>
          </a:prstGeom>
        </p:spPr>
      </p:pic>
      <p:pic>
        <p:nvPicPr>
          <p:cNvPr id="8"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41518" y="1501615"/>
            <a:ext cx="61828" cy="61828"/>
          </a:xfrm>
          <a:prstGeom prst="rect">
            <a:avLst/>
          </a:prstGeom>
        </p:spPr>
      </p:pic>
      <p:pic>
        <p:nvPicPr>
          <p:cNvPr id="9"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16656" y="1501615"/>
            <a:ext cx="61828" cy="61828"/>
          </a:xfrm>
          <a:prstGeom prst="rect">
            <a:avLst/>
          </a:prstGeom>
        </p:spPr>
      </p:pic>
      <p:pic>
        <p:nvPicPr>
          <p:cNvPr id="10" name="Image 8" descr="preencoded.png"/>
          <p:cNvPicPr>
            <a:picLocks noChangeAspect="1"/>
          </p:cNvPicPr>
          <p:nvPr/>
        </p:nvPicPr>
        <p:blipFill>
          <a:blip r:embed="rId9">
            <a:extLst>
              <a:ext uri="{96DAC541-7B7A-43D3-8B79-37D633B846F1}">
                <asvg:svgBlip xmlns:asvg="http://schemas.microsoft.com/office/drawing/2016/SVG/main" r:embed="rId13"/>
              </a:ext>
            </a:extLst>
          </a:blip>
          <a:stretch>
            <a:fillRect/>
          </a:stretch>
        </p:blipFill>
        <p:spPr>
          <a:xfrm>
            <a:off x="2941518" y="3175028"/>
            <a:ext cx="61828" cy="61827"/>
          </a:xfrm>
          <a:prstGeom prst="rect">
            <a:avLst/>
          </a:prstGeom>
        </p:spPr>
      </p:pic>
      <p:pic>
        <p:nvPicPr>
          <p:cNvPr id="11" name="Image 9" descr="preencoded.png"/>
          <p:cNvPicPr>
            <a:picLocks noChangeAspect="1"/>
          </p:cNvPicPr>
          <p:nvPr/>
        </p:nvPicPr>
        <p:blipFill>
          <a:blip r:embed="rId11">
            <a:extLst>
              <a:ext uri="{96DAC541-7B7A-43D3-8B79-37D633B846F1}">
                <asvg:svgBlip xmlns:asvg="http://schemas.microsoft.com/office/drawing/2016/SVG/main" r:embed="rId14"/>
              </a:ext>
            </a:extLst>
          </a:blip>
          <a:stretch>
            <a:fillRect/>
          </a:stretch>
        </p:blipFill>
        <p:spPr>
          <a:xfrm>
            <a:off x="4616656" y="3176755"/>
            <a:ext cx="61828" cy="61828"/>
          </a:xfrm>
          <a:prstGeom prst="rect">
            <a:avLst/>
          </a:prstGeom>
        </p:spPr>
      </p:pic>
      <p:sp>
        <p:nvSpPr>
          <p:cNvPr id="12" name="Text 0"/>
          <p:cNvSpPr/>
          <p:nvPr/>
        </p:nvSpPr>
        <p:spPr>
          <a:xfrm>
            <a:off x="5014787" y="1140719"/>
            <a:ext cx="211509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核心技术栈</a:t>
            </a:r>
            <a:endParaRPr lang="en-US" sz="1200"/>
          </a:p>
        </p:txBody>
      </p:sp>
      <p:sp>
        <p:nvSpPr>
          <p:cNvPr id="13" name="Text 1"/>
          <p:cNvSpPr/>
          <p:nvPr/>
        </p:nvSpPr>
        <p:spPr>
          <a:xfrm>
            <a:off x="5041592" y="3111341"/>
            <a:ext cx="2113292" cy="7426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70"/>
              </a:lnSpc>
              <a:buNone/>
            </a:pPr>
            <a:r>
              <a:rPr lang="en-US" sz="900">
                <a:solidFill>
                  <a:srgbClr val="000000"/>
                </a:solidFill>
                <a:latin typeface="SourceHanSansCN-Regular"/>
                <a:ea typeface="SourceHanSansCN-Regular"/>
                <a:cs typeface="SourceHanSansCN-Regular"/>
              </a:rPr>
              <a:t>实验采用定性分析方法。通过精心设计覆盖不同粒度和复杂度的医疗问题（如具体实体查询、宽泛概念查询等），从检索相关性、生成准确性、响应速度等多个维度对系统的综合表现进行评估。</a:t>
            </a:r>
            <a:endParaRPr lang="en-US" sz="900"/>
          </a:p>
        </p:txBody>
      </p:sp>
      <p:sp>
        <p:nvSpPr>
          <p:cNvPr id="14" name="Text 2"/>
          <p:cNvSpPr/>
          <p:nvPr/>
        </p:nvSpPr>
        <p:spPr>
          <a:xfrm>
            <a:off x="500164" y="1431464"/>
            <a:ext cx="2113292" cy="7426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170"/>
              </a:lnSpc>
              <a:buNone/>
            </a:pPr>
            <a:r>
              <a:rPr lang="en-US" sz="900">
                <a:solidFill>
                  <a:srgbClr val="000000"/>
                </a:solidFill>
                <a:latin typeface="SourceHanSansCN-Regular"/>
                <a:ea typeface="SourceHanSansCN-Regular"/>
                <a:cs typeface="SourceHanSansCN-Regular"/>
              </a:rPr>
              <a:t>为验证系统性能，实验采用自行处理的血液疾病医疗文本数据集。数据源为微信公众号文章，涵盖白血病、骨髓移植、免疫治疗、靶向药物和淋巴瘤5个主题，经过清洗和语义分块后共形成10个文档块。</a:t>
            </a:r>
            <a:endParaRPr lang="en-US" sz="900"/>
          </a:p>
        </p:txBody>
      </p:sp>
      <p:sp>
        <p:nvSpPr>
          <p:cNvPr id="15" name="Text 3"/>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实验环境设置</a:t>
            </a:r>
            <a:endParaRPr lang="en-US" sz="1730"/>
          </a:p>
        </p:txBody>
      </p:sp>
      <p:sp>
        <p:nvSpPr>
          <p:cNvPr id="16" name="Text 4"/>
          <p:cNvSpPr/>
          <p:nvPr/>
        </p:nvSpPr>
        <p:spPr>
          <a:xfrm>
            <a:off x="5028645" y="1428631"/>
            <a:ext cx="2113292" cy="6191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000000"/>
                </a:solidFill>
                <a:latin typeface="SourceHanSansCN-Regular"/>
                <a:ea typeface="SourceHanSansCN-Regular"/>
                <a:cs typeface="SourceHanSansCN-Regular"/>
              </a:rPr>
              <a:t>系统主要依赖的Python库包括：使用Streamlit 1.29构建交互式Web界面；使用ChromaDB 0.4.22作为向量数据库；使用Sentence-Transformers 2.2.2提供嵌入模型；使用Transformers 4.36.2加载生成模型。</a:t>
            </a:r>
            <a:endParaRPr lang="en-US" sz="750"/>
          </a:p>
        </p:txBody>
      </p:sp>
      <p:sp>
        <p:nvSpPr>
          <p:cNvPr id="17" name="Text 5"/>
          <p:cNvSpPr/>
          <p:nvPr/>
        </p:nvSpPr>
        <p:spPr>
          <a:xfrm>
            <a:off x="5014786" y="2819816"/>
            <a:ext cx="211509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性能评估方法</a:t>
            </a:r>
            <a:endParaRPr lang="en-US" sz="1200"/>
          </a:p>
        </p:txBody>
      </p:sp>
      <p:sp>
        <p:nvSpPr>
          <p:cNvPr id="18" name="Text 6"/>
          <p:cNvSpPr/>
          <p:nvPr/>
        </p:nvSpPr>
        <p:spPr>
          <a:xfrm>
            <a:off x="500163" y="3102044"/>
            <a:ext cx="2113292" cy="7426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170"/>
              </a:lnSpc>
              <a:buNone/>
            </a:pPr>
            <a:r>
              <a:rPr lang="en-US" sz="900">
                <a:solidFill>
                  <a:srgbClr val="000000"/>
                </a:solidFill>
                <a:latin typeface="SourceHanSansCN-Regular"/>
                <a:ea typeface="SourceHanSansCN-Regular"/>
                <a:cs typeface="SourceHanSansCN-Regular"/>
              </a:rPr>
              <a:t>实验在一台个人计算机上进行，操作系统为Windows 11，编程环境为Python 3.9。这样的配置代表了典型的本地开发与实验环境，验证了系统在有限资源下的可行性。</a:t>
            </a:r>
            <a:endParaRPr lang="en-US" sz="900"/>
          </a:p>
        </p:txBody>
      </p:sp>
      <p:sp>
        <p:nvSpPr>
          <p:cNvPr id="19" name="Text 7"/>
          <p:cNvSpPr/>
          <p:nvPr/>
        </p:nvSpPr>
        <p:spPr>
          <a:xfrm>
            <a:off x="499262" y="1142445"/>
            <a:ext cx="211509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60"/>
              </a:lnSpc>
              <a:buNone/>
            </a:pPr>
            <a:r>
              <a:rPr lang="en-US" sz="1200" b="1">
                <a:solidFill>
                  <a:srgbClr val="000000"/>
                </a:solidFill>
                <a:latin typeface="SourceHanSansCN-Regular"/>
                <a:ea typeface="SourceHanSansCN-Regular"/>
                <a:cs typeface="SourceHanSansCN-Regular"/>
              </a:rPr>
              <a:t>实验数据集</a:t>
            </a:r>
            <a:endParaRPr lang="en-US" sz="1200"/>
          </a:p>
        </p:txBody>
      </p:sp>
      <p:sp>
        <p:nvSpPr>
          <p:cNvPr id="20" name="Text 8"/>
          <p:cNvSpPr/>
          <p:nvPr/>
        </p:nvSpPr>
        <p:spPr>
          <a:xfrm>
            <a:off x="499262" y="2814132"/>
            <a:ext cx="2115093"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60"/>
              </a:lnSpc>
              <a:buNone/>
            </a:pPr>
            <a:r>
              <a:rPr lang="en-US" sz="1200" b="1">
                <a:solidFill>
                  <a:srgbClr val="000000"/>
                </a:solidFill>
                <a:latin typeface="SourceHanSansCN-Regular"/>
                <a:ea typeface="SourceHanSansCN-Regular"/>
                <a:cs typeface="SourceHanSansCN-Regular"/>
              </a:rPr>
              <a:t>硬件与软件环境</a:t>
            </a:r>
            <a:endParaRPr lang="en-US" sz="12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caef1f5c9df2a823f14393a7e787f691.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3360" y="882315"/>
            <a:ext cx="1612034" cy="2858412"/>
          </a:xfrm>
          <a:prstGeom prst="rect">
            <a:avLst/>
          </a:prstGeom>
        </p:spPr>
      </p:pic>
      <p:pic>
        <p:nvPicPr>
          <p:cNvPr id="5" name="Image 3" descr="preencoded.png"/>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2150442" y="882315"/>
            <a:ext cx="1612035" cy="2858412"/>
          </a:xfrm>
          <a:prstGeom prst="rect">
            <a:avLst/>
          </a:prstGeom>
        </p:spPr>
      </p:pic>
      <p:pic>
        <p:nvPicPr>
          <p:cNvPr id="6"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57524" y="882315"/>
            <a:ext cx="1612035" cy="2858412"/>
          </a:xfrm>
          <a:prstGeom prst="rect">
            <a:avLst/>
          </a:prstGeom>
        </p:spPr>
      </p:pic>
      <p:pic>
        <p:nvPicPr>
          <p:cNvPr id="7" name="Image 5" descr="preencoded.png"/>
          <p:cNvPicPr>
            <a:picLocks noChangeAspect="1"/>
          </p:cNvPicPr>
          <p:nvPr/>
        </p:nvPicPr>
        <p:blipFill>
          <a:blip r:embed="rId5">
            <a:extLst>
              <a:ext uri="{96DAC541-7B7A-43D3-8B79-37D633B846F1}">
                <asvg:svgBlip xmlns:asvg="http://schemas.microsoft.com/office/drawing/2016/SVG/main" r:embed="rId10"/>
              </a:ext>
            </a:extLst>
          </a:blip>
          <a:stretch>
            <a:fillRect/>
          </a:stretch>
        </p:blipFill>
        <p:spPr>
          <a:xfrm>
            <a:off x="5564606" y="882315"/>
            <a:ext cx="1612035" cy="2858412"/>
          </a:xfrm>
          <a:prstGeom prst="rect">
            <a:avLst/>
          </a:prstGeom>
        </p:spPr>
      </p:pic>
      <p:pic>
        <p:nvPicPr>
          <p:cNvPr id="8"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77633" y="880786"/>
            <a:ext cx="378006" cy="378006"/>
          </a:xfrm>
          <a:prstGeom prst="rect">
            <a:avLst/>
          </a:prstGeom>
        </p:spPr>
      </p:pic>
      <p:pic>
        <p:nvPicPr>
          <p:cNvPr id="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382106" y="880786"/>
            <a:ext cx="378006" cy="378007"/>
          </a:xfrm>
          <a:prstGeom prst="rect">
            <a:avLst/>
          </a:prstGeom>
        </p:spPr>
      </p:pic>
      <p:pic>
        <p:nvPicPr>
          <p:cNvPr id="10" name="Image 8" descr="preencoded.png"/>
          <p:cNvPicPr>
            <a:picLocks noChangeAspect="1"/>
          </p:cNvPicPr>
          <p:nvPr/>
        </p:nvPicPr>
        <p:blipFill>
          <a:blip r:embed="rId13">
            <a:extLst>
              <a:ext uri="{96DAC541-7B7A-43D3-8B79-37D633B846F1}">
                <asvg:svgBlip xmlns:asvg="http://schemas.microsoft.com/office/drawing/2016/SVG/main" r:embed="rId15"/>
              </a:ext>
            </a:extLst>
          </a:blip>
          <a:stretch>
            <a:fillRect/>
          </a:stretch>
        </p:blipFill>
        <p:spPr>
          <a:xfrm>
            <a:off x="5090654" y="880785"/>
            <a:ext cx="378006" cy="378007"/>
          </a:xfrm>
          <a:prstGeom prst="rect">
            <a:avLst/>
          </a:prstGeom>
        </p:spPr>
      </p:pic>
      <p:pic>
        <p:nvPicPr>
          <p:cNvPr id="11" name="Image 9" descr="preencoded.png"/>
          <p:cNvPicPr>
            <a:picLocks noChangeAspect="1"/>
          </p:cNvPicPr>
          <p:nvPr/>
        </p:nvPicPr>
        <p:blipFill>
          <a:blip r:embed="rId13">
            <a:extLst>
              <a:ext uri="{96DAC541-7B7A-43D3-8B79-37D633B846F1}">
                <asvg:svgBlip xmlns:asvg="http://schemas.microsoft.com/office/drawing/2016/SVG/main" r:embed="rId16"/>
              </a:ext>
            </a:extLst>
          </a:blip>
          <a:stretch>
            <a:fillRect/>
          </a:stretch>
        </p:blipFill>
        <p:spPr>
          <a:xfrm>
            <a:off x="6799202" y="880785"/>
            <a:ext cx="378006" cy="378007"/>
          </a:xfrm>
          <a:prstGeom prst="rect">
            <a:avLst/>
          </a:prstGeom>
        </p:spPr>
      </p:pic>
      <p:sp>
        <p:nvSpPr>
          <p:cNvPr id="12" name="Text 0"/>
          <p:cNvSpPr/>
          <p:nvPr/>
        </p:nvSpPr>
        <p:spPr>
          <a:xfrm>
            <a:off x="2326666" y="973148"/>
            <a:ext cx="402996" cy="423751"/>
          </a:xfrm>
          <a:prstGeom prst="rect">
            <a:avLst/>
          </a:prstGeom>
          <a:noFill/>
        </p:spPr>
        <p:txBody>
          <a:bodyPr wrap="non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336"/>
              </a:lnSpc>
              <a:buNone/>
            </a:pPr>
            <a:r>
              <a:rPr lang="en-US" sz="2780" b="1" i="1">
                <a:solidFill>
                  <a:srgbClr val="116E85"/>
                </a:solidFill>
                <a:latin typeface="Arial" pitchFamily="34" charset="0"/>
                <a:ea typeface="Arial" pitchFamily="34" charset="0"/>
                <a:cs typeface="Arial" pitchFamily="34" charset="0"/>
              </a:rPr>
              <a:t>02</a:t>
            </a:r>
            <a:endParaRPr lang="en-US" sz="2780"/>
          </a:p>
        </p:txBody>
      </p:sp>
      <p:sp>
        <p:nvSpPr>
          <p:cNvPr id="13" name="Text 1"/>
          <p:cNvSpPr/>
          <p:nvPr/>
        </p:nvSpPr>
        <p:spPr>
          <a:xfrm>
            <a:off x="4032507" y="973148"/>
            <a:ext cx="402996" cy="423751"/>
          </a:xfrm>
          <a:prstGeom prst="rect">
            <a:avLst/>
          </a:prstGeom>
          <a:noFill/>
        </p:spPr>
        <p:txBody>
          <a:bodyPr wrap="non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336"/>
              </a:lnSpc>
              <a:buNone/>
            </a:pPr>
            <a:r>
              <a:rPr lang="en-US" sz="2780" b="1" i="1">
                <a:solidFill>
                  <a:srgbClr val="116E85"/>
                </a:solidFill>
                <a:latin typeface="Arial" pitchFamily="34" charset="0"/>
                <a:ea typeface="Arial" pitchFamily="34" charset="0"/>
                <a:cs typeface="Arial" pitchFamily="34" charset="0"/>
              </a:rPr>
              <a:t>03</a:t>
            </a:r>
            <a:endParaRPr lang="en-US" sz="2780"/>
          </a:p>
        </p:txBody>
      </p:sp>
      <p:sp>
        <p:nvSpPr>
          <p:cNvPr id="14" name="Text 2"/>
          <p:cNvSpPr/>
          <p:nvPr/>
        </p:nvSpPr>
        <p:spPr>
          <a:xfrm>
            <a:off x="620825" y="973148"/>
            <a:ext cx="402996" cy="423751"/>
          </a:xfrm>
          <a:prstGeom prst="rect">
            <a:avLst/>
          </a:prstGeom>
          <a:noFill/>
        </p:spPr>
        <p:txBody>
          <a:bodyPr wrap="non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336"/>
              </a:lnSpc>
              <a:buNone/>
            </a:pPr>
            <a:r>
              <a:rPr lang="en-US" sz="2780" b="1" i="1">
                <a:solidFill>
                  <a:srgbClr val="116E85"/>
                </a:solidFill>
                <a:latin typeface="Arial" pitchFamily="34" charset="0"/>
                <a:ea typeface="Arial" pitchFamily="34" charset="0"/>
                <a:cs typeface="Arial" pitchFamily="34" charset="0"/>
              </a:rPr>
              <a:t>01</a:t>
            </a:r>
            <a:endParaRPr lang="en-US" sz="2780"/>
          </a:p>
        </p:txBody>
      </p:sp>
      <p:sp>
        <p:nvSpPr>
          <p:cNvPr id="15" name="Text 3"/>
          <p:cNvSpPr/>
          <p:nvPr/>
        </p:nvSpPr>
        <p:spPr>
          <a:xfrm>
            <a:off x="5738348" y="973148"/>
            <a:ext cx="402996" cy="423751"/>
          </a:xfrm>
          <a:prstGeom prst="rect">
            <a:avLst/>
          </a:prstGeom>
          <a:noFill/>
        </p:spPr>
        <p:txBody>
          <a:bodyPr wrap="non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336"/>
              </a:lnSpc>
              <a:buNone/>
            </a:pPr>
            <a:r>
              <a:rPr lang="en-US" sz="2780" b="1" i="1">
                <a:solidFill>
                  <a:srgbClr val="116E85"/>
                </a:solidFill>
                <a:latin typeface="Arial" pitchFamily="34" charset="0"/>
                <a:ea typeface="Arial" pitchFamily="34" charset="0"/>
                <a:cs typeface="Arial" pitchFamily="34" charset="0"/>
              </a:rPr>
              <a:t>04</a:t>
            </a:r>
            <a:endParaRPr lang="en-US" sz="2780"/>
          </a:p>
        </p:txBody>
      </p:sp>
      <p:sp>
        <p:nvSpPr>
          <p:cNvPr id="16" name="Text 4"/>
          <p:cNvSpPr/>
          <p:nvPr/>
        </p:nvSpPr>
        <p:spPr>
          <a:xfrm>
            <a:off x="620825" y="1702597"/>
            <a:ext cx="1267271"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提问“什么是CAR-T细胞治疗？”，系统展现出高度精确性。相关文档的重排序分数高达0.9952，与不相关文档形成断崖式差距，表明嵌入模型成功编码了专业术语，且重排序模型精准地过滤了噪声。</a:t>
            </a:r>
            <a:endParaRPr lang="en-US" sz="1050"/>
          </a:p>
        </p:txBody>
      </p:sp>
      <p:sp>
        <p:nvSpPr>
          <p:cNvPr id="17" name="Text 5"/>
          <p:cNvSpPr/>
          <p:nvPr/>
        </p:nvSpPr>
        <p:spPr>
          <a:xfrm>
            <a:off x="2327521" y="1434940"/>
            <a:ext cx="12673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概念查询分析</a:t>
            </a:r>
            <a:endParaRPr lang="en-US" sz="1200"/>
          </a:p>
        </p:txBody>
      </p:sp>
      <p:sp>
        <p:nvSpPr>
          <p:cNvPr id="18" name="Text 6"/>
          <p:cNvSpPr/>
          <p:nvPr/>
        </p:nvSpPr>
        <p:spPr>
          <a:xfrm>
            <a:off x="4032507" y="1702597"/>
            <a:ext cx="1267271" cy="190559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提问“慢性粒细胞白血病的首选药物是什么？”，系统表现出良好的答案指向性。尽管召回文档较少，但包含关键事实“伊马替尼”的文档获得了高分，证明系统能从知识库中定位到包含具体答案的最相关片段。</a:t>
            </a:r>
            <a:endParaRPr lang="en-US" sz="1050"/>
          </a:p>
        </p:txBody>
      </p:sp>
      <p:sp>
        <p:nvSpPr>
          <p:cNvPr id="19" name="Text 7"/>
          <p:cNvSpPr/>
          <p:nvPr/>
        </p:nvSpPr>
        <p:spPr>
          <a:xfrm>
            <a:off x="5739202" y="1434940"/>
            <a:ext cx="12673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双阶段架构总结</a:t>
            </a:r>
            <a:endParaRPr lang="en-US" sz="1200"/>
          </a:p>
        </p:txBody>
      </p:sp>
      <p:sp>
        <p:nvSpPr>
          <p:cNvPr id="20" name="Text 8"/>
          <p:cNvSpPr/>
          <p:nvPr/>
        </p:nvSpPr>
        <p:spPr>
          <a:xfrm>
            <a:off x="5738348" y="1702597"/>
            <a:ext cx="1267271"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实验证明，“轻量级向量检索+强语义重排序”的双阶段架构是成功的。第一阶段向量检索保证了查全率，第二阶段重排序则通过深度语义理解极大地提升了查准率，平衡了效率与精度。</a:t>
            </a:r>
            <a:endParaRPr lang="en-US" sz="1050"/>
          </a:p>
        </p:txBody>
      </p:sp>
      <p:sp>
        <p:nvSpPr>
          <p:cNvPr id="21" name="Text 9"/>
          <p:cNvSpPr/>
          <p:nvPr/>
        </p:nvSpPr>
        <p:spPr>
          <a:xfrm>
            <a:off x="4033362" y="1434940"/>
            <a:ext cx="12673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特定查询分析</a:t>
            </a:r>
            <a:endParaRPr lang="en-US" sz="1200"/>
          </a:p>
        </p:txBody>
      </p:sp>
      <p:sp>
        <p:nvSpPr>
          <p:cNvPr id="22" name="Text 10"/>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检索性能分析</a:t>
            </a:r>
            <a:endParaRPr lang="en-US" sz="1730"/>
          </a:p>
        </p:txBody>
      </p:sp>
      <p:sp>
        <p:nvSpPr>
          <p:cNvPr id="23" name="Text 11"/>
          <p:cNvSpPr/>
          <p:nvPr/>
        </p:nvSpPr>
        <p:spPr>
          <a:xfrm>
            <a:off x="621679" y="1434940"/>
            <a:ext cx="1267366"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000000"/>
                </a:solidFill>
                <a:latin typeface="SourceHanSansCN-Regular"/>
                <a:ea typeface="SourceHanSansCN-Regular"/>
                <a:cs typeface="SourceHanSansCN-Regular"/>
              </a:rPr>
              <a:t>实体查询分析</a:t>
            </a:r>
            <a:endParaRPr lang="en-US" sz="1200"/>
          </a:p>
        </p:txBody>
      </p:sp>
      <p:sp>
        <p:nvSpPr>
          <p:cNvPr id="24" name="Text 12"/>
          <p:cNvSpPr/>
          <p:nvPr/>
        </p:nvSpPr>
        <p:spPr>
          <a:xfrm>
            <a:off x="2326666" y="1702597"/>
            <a:ext cx="1267271" cy="173235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提问“白血病有哪些治疗方法？”，系统展现了出色的主题覆盖能力。召回的文档由宏观概述领衔，辅以关键细分领域的详细文档，自动构建起一个层次分明、点面结合的知识体系，利于生成全面答案。</a:t>
            </a:r>
            <a:endParaRPr lang="en-US" sz="10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d6fd88b7466c69edab5b8f42d3fb748f.png"/>
          <p:cNvPicPr>
            <a:picLocks noChangeAspect="1"/>
          </p:cNvPicPr>
          <p:nvPr/>
        </p:nvPicPr>
        <p:blipFill>
          <a:blip r:embed="rId4"/>
          <a:stretch>
            <a:fillRect/>
          </a:stretch>
        </p:blipFill>
        <p:spPr>
          <a:xfrm>
            <a:off x="0" y="168514"/>
            <a:ext cx="4408714" cy="474257"/>
          </a:xfrm>
          <a:prstGeom prst="rect">
            <a:avLst/>
          </a:prstGeom>
        </p:spPr>
      </p:pic>
      <p:pic>
        <p:nvPicPr>
          <p:cNvPr id="4" name="Image 2" descr="https://test.web.static.jianzeppt.com/ppt-temp-img3/2e501150942d5fbe31b1b2449223d363.png"/>
          <p:cNvPicPr>
            <a:picLocks noChangeAspect="1"/>
          </p:cNvPicPr>
          <p:nvPr/>
        </p:nvPicPr>
        <p:blipFill>
          <a:blip r:embed="rId5"/>
          <a:stretch>
            <a:fillRect/>
          </a:stretch>
        </p:blipFill>
        <p:spPr>
          <a:xfrm>
            <a:off x="4276178" y="1292029"/>
            <a:ext cx="256381" cy="256373"/>
          </a:xfrm>
          <a:prstGeom prst="rect">
            <a:avLst/>
          </a:prstGeom>
        </p:spPr>
      </p:pic>
      <p:pic>
        <p:nvPicPr>
          <p:cNvPr id="5" name="Image 3" descr="https://test.web.static.jianzeppt.com/ppt-temp-img3/01a79af82fad5482c41be9e2db724a05.png"/>
          <p:cNvPicPr>
            <a:picLocks noChangeAspect="1"/>
          </p:cNvPicPr>
          <p:nvPr/>
        </p:nvPicPr>
        <p:blipFill>
          <a:blip r:embed="rId6"/>
          <a:stretch>
            <a:fillRect/>
          </a:stretch>
        </p:blipFill>
        <p:spPr>
          <a:xfrm>
            <a:off x="4276178" y="2496713"/>
            <a:ext cx="256381" cy="256374"/>
          </a:xfrm>
          <a:prstGeom prst="rect">
            <a:avLst/>
          </a:prstGeom>
        </p:spPr>
      </p:pic>
      <p:pic>
        <p:nvPicPr>
          <p:cNvPr id="6" name="Image 4" descr="https://test.web.static.jianzeppt.com/ppt-temp-img3/613749f107f29651f06339315bc4db16.png"/>
          <p:cNvPicPr>
            <a:picLocks noChangeAspect="1"/>
          </p:cNvPicPr>
          <p:nvPr/>
        </p:nvPicPr>
        <p:blipFill>
          <a:blip r:embed="rId7"/>
          <a:stretch>
            <a:fillRect/>
          </a:stretch>
        </p:blipFill>
        <p:spPr>
          <a:xfrm>
            <a:off x="3154610" y="1292029"/>
            <a:ext cx="256381" cy="256373"/>
          </a:xfrm>
          <a:prstGeom prst="rect">
            <a:avLst/>
          </a:prstGeom>
        </p:spPr>
      </p:pic>
      <p:pic>
        <p:nvPicPr>
          <p:cNvPr id="7" name="Image 5" descr="https://test.web.static.jianzeppt.com/ppt-temp-img3/613749f107f29651f06339315bc4db16.png"/>
          <p:cNvPicPr>
            <a:picLocks noChangeAspect="1"/>
          </p:cNvPicPr>
          <p:nvPr/>
        </p:nvPicPr>
        <p:blipFill>
          <a:blip r:embed="rId7"/>
          <a:stretch>
            <a:fillRect/>
          </a:stretch>
        </p:blipFill>
        <p:spPr>
          <a:xfrm>
            <a:off x="3145084" y="2505166"/>
            <a:ext cx="256381" cy="256373"/>
          </a:xfrm>
          <a:prstGeom prst="rect">
            <a:avLst/>
          </a:prstGeom>
        </p:spPr>
      </p:pic>
      <p:sp>
        <p:nvSpPr>
          <p:cNvPr id="8" name="Text 0"/>
          <p:cNvSpPr/>
          <p:nvPr/>
        </p:nvSpPr>
        <p:spPr>
          <a:xfrm>
            <a:off x="4659386" y="2524524"/>
            <a:ext cx="2053962"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结论</a:t>
            </a:r>
            <a:endParaRPr lang="en-US" sz="1200"/>
          </a:p>
        </p:txBody>
      </p:sp>
      <p:sp>
        <p:nvSpPr>
          <p:cNvPr id="9" name="Text 1"/>
          <p:cNvSpPr/>
          <p:nvPr/>
        </p:nvSpPr>
        <p:spPr>
          <a:xfrm>
            <a:off x="4659386" y="1319841"/>
            <a:ext cx="2053962"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2F2F2F"/>
                </a:solidFill>
                <a:latin typeface="SourceHanSansCN-Regular"/>
                <a:ea typeface="SourceHanSansCN-Regular"/>
                <a:cs typeface="SourceHanSansCN-Regular"/>
              </a:rPr>
              <a:t>多轮对话测试</a:t>
            </a:r>
            <a:endParaRPr lang="en-US" sz="1200"/>
          </a:p>
        </p:txBody>
      </p:sp>
      <p:sp>
        <p:nvSpPr>
          <p:cNvPr id="10" name="Text 2"/>
          <p:cNvSpPr/>
          <p:nvPr/>
        </p:nvSpPr>
        <p:spPr>
          <a:xfrm>
            <a:off x="4683823" y="1540601"/>
            <a:ext cx="2053962" cy="89118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70"/>
              </a:lnSpc>
              <a:buNone/>
            </a:pPr>
            <a:r>
              <a:rPr lang="en-US" sz="900">
                <a:solidFill>
                  <a:srgbClr val="333333"/>
                </a:solidFill>
                <a:latin typeface="SourceHanSansCN-Regular"/>
                <a:ea typeface="SourceHanSansCN-Regular"/>
                <a:cs typeface="SourceHanSansCN-Regular"/>
              </a:rPr>
              <a:t>在多轮对话测试中，当用户先问“白血病有哪些症状？”再追问“如何诊断？”时，系统能够正确理解后续问题中的指代关系，并结合之前的对话历史生成连贯且相关的回答，表现出良好的上下文保持能力。</a:t>
            </a:r>
            <a:endParaRPr lang="en-US" sz="900"/>
          </a:p>
        </p:txBody>
      </p:sp>
      <p:sp>
        <p:nvSpPr>
          <p:cNvPr id="11" name="Text 3"/>
          <p:cNvSpPr/>
          <p:nvPr/>
        </p:nvSpPr>
        <p:spPr>
          <a:xfrm>
            <a:off x="992910" y="1540601"/>
            <a:ext cx="2017168" cy="80441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274"/>
              </a:lnSpc>
              <a:buNone/>
            </a:pPr>
            <a:r>
              <a:rPr lang="en-US" sz="980">
                <a:solidFill>
                  <a:srgbClr val="333333"/>
                </a:solidFill>
                <a:latin typeface="SourceHanSansCN-Regular"/>
                <a:ea typeface="SourceHanSansCN-Regular"/>
                <a:cs typeface="SourceHanSansCN-Regular"/>
              </a:rPr>
              <a:t>生成质量的核心评估方法是对比在有RAG上下文和无上下文两种情况下，模型生成答案的差异。这能直观地展示检索到的外部知识对约束模型输出、提升答案事实准确性的作用。</a:t>
            </a:r>
            <a:endParaRPr lang="en-US" sz="980"/>
          </a:p>
        </p:txBody>
      </p:sp>
      <p:sp>
        <p:nvSpPr>
          <p:cNvPr id="12" name="Text 4"/>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生成质量分析要点</a:t>
            </a:r>
            <a:endParaRPr lang="en-US" sz="1730"/>
          </a:p>
        </p:txBody>
      </p:sp>
      <p:sp>
        <p:nvSpPr>
          <p:cNvPr id="13" name="Text 5"/>
          <p:cNvSpPr/>
          <p:nvPr/>
        </p:nvSpPr>
        <p:spPr>
          <a:xfrm>
            <a:off x="4705999" y="2745284"/>
            <a:ext cx="2053962" cy="7426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70"/>
              </a:lnSpc>
              <a:buNone/>
            </a:pPr>
            <a:r>
              <a:rPr lang="en-US" sz="900">
                <a:solidFill>
                  <a:srgbClr val="333333"/>
                </a:solidFill>
                <a:latin typeface="SourceHanSansCN-Regular"/>
                <a:ea typeface="SourceHanSansCN-Regular"/>
                <a:cs typeface="SourceHanSansCN-Regular"/>
              </a:rPr>
              <a:t>尽管本实验采用的基础生成模型（GPT-2）语言表达能力有限，但在RAG框架的强力约束下，其生成答案的事实准确性得到了可靠保障。这验证了RAG是解决大模型“幻觉”问题的有效路径。</a:t>
            </a:r>
            <a:endParaRPr lang="en-US" sz="900"/>
          </a:p>
        </p:txBody>
      </p:sp>
      <p:sp>
        <p:nvSpPr>
          <p:cNvPr id="14" name="Text 6"/>
          <p:cNvSpPr/>
          <p:nvPr/>
        </p:nvSpPr>
        <p:spPr>
          <a:xfrm>
            <a:off x="982959" y="2745284"/>
            <a:ext cx="2017168" cy="89118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170"/>
              </a:lnSpc>
              <a:buNone/>
            </a:pPr>
            <a:r>
              <a:rPr lang="en-US" sz="900">
                <a:solidFill>
                  <a:srgbClr val="333333"/>
                </a:solidFill>
                <a:latin typeface="SourceHanSansCN-Regular"/>
                <a:ea typeface="SourceHanSansCN-Regular"/>
                <a:cs typeface="SourceHanSansCN-Regular"/>
              </a:rPr>
              <a:t>以问题“慢性粒细胞白血病的首选药物是什么？”为例，有上下文时，系统能准确回答“是酪氨酸激酶抑制剂，特别是伊马替尼”；而无上下文时，答案仅为笼统的“通常使用化疗或靶向药物治疗”，缺乏关键信息。</a:t>
            </a:r>
            <a:endParaRPr lang="en-US" sz="900"/>
          </a:p>
        </p:txBody>
      </p:sp>
      <p:sp>
        <p:nvSpPr>
          <p:cNvPr id="15" name="Text 7"/>
          <p:cNvSpPr/>
          <p:nvPr/>
        </p:nvSpPr>
        <p:spPr>
          <a:xfrm>
            <a:off x="982959" y="2514085"/>
            <a:ext cx="201716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60"/>
              </a:lnSpc>
              <a:buNone/>
            </a:pPr>
            <a:r>
              <a:rPr lang="en-US" sz="1200" b="1">
                <a:solidFill>
                  <a:srgbClr val="2F2F2F"/>
                </a:solidFill>
                <a:latin typeface="SourceHanSansCN-Regular"/>
                <a:ea typeface="SourceHanSansCN-Regular"/>
                <a:cs typeface="SourceHanSansCN-Regular"/>
              </a:rPr>
              <a:t>案例对比分析</a:t>
            </a:r>
            <a:endParaRPr lang="en-US" sz="1200"/>
          </a:p>
        </p:txBody>
      </p:sp>
      <p:sp>
        <p:nvSpPr>
          <p:cNvPr id="16" name="Text 8"/>
          <p:cNvSpPr/>
          <p:nvPr/>
        </p:nvSpPr>
        <p:spPr>
          <a:xfrm>
            <a:off x="982959" y="1309402"/>
            <a:ext cx="201716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60"/>
              </a:lnSpc>
              <a:buNone/>
            </a:pPr>
            <a:r>
              <a:rPr lang="en-US" sz="1200" b="1">
                <a:solidFill>
                  <a:srgbClr val="2F2F2F"/>
                </a:solidFill>
                <a:latin typeface="SourceHanSansCN-Regular"/>
                <a:ea typeface="SourceHanSansCN-Regular"/>
                <a:cs typeface="SourceHanSansCN-Regular"/>
              </a:rPr>
              <a:t>评估方法</a:t>
            </a:r>
            <a:endParaRPr lang="en-US" sz="12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nodeType="afterGroup">
                            <p:stCondLst>
                              <p:cond delay="500"/>
                            </p:stCondLst>
                            <p:childTnLst>
                              <p:par>
                                <p:cTn id="9" presetID="10" presetClass="entr" presetSubtype="0" dur="75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dur="750" fill="hold" grpId="3"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dur="750" fill="hold" grpId="4"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dur="750" fill="hold" grpId="5"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nodeType="afterGroup">
                            <p:stCondLst>
                              <p:cond delay="1000"/>
                            </p:stCondLst>
                            <p:childTnLst>
                              <p:par>
                                <p:cTn id="25" presetID="10" presetClass="entr" presetSubtype="0" dur="75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dur="750" fill="hold" grpId="8"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dur="750" fill="hold" grpId="9"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34" fill="hold" nodeType="afterGroup">
                            <p:stCondLst>
                              <p:cond delay="1500"/>
                            </p:stCondLst>
                            <p:childTnLst>
                              <p:par>
                                <p:cTn id="35" presetID="10" presetClass="entr" presetSubtype="0" dur="75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dur="750" fill="hold" grpId="11"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dur="750" fill="hold" grpId="12"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1" animBg="1"/>
      <p:bldP spid="9" grpId="8" animBg="1"/>
      <p:bldP spid="10" grpId="9" animBg="1"/>
      <p:bldP spid="11" grpId="4" animBg="1"/>
      <p:bldP spid="13" grpId="12" animBg="1"/>
      <p:bldP spid="14" grpId="6" animBg="1"/>
      <p:bldP spid="15" grpId="5" animBg="1"/>
      <p:bldP spid="16" grpId="3"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be9ba6cb0c4a73f9ac0aa21d9d9fa258.png"/>
          <p:cNvPicPr>
            <a:picLocks noChangeAspect="1"/>
          </p:cNvPicPr>
          <p:nvPr/>
        </p:nvPicPr>
        <p:blipFill>
          <a:blip r:embed="rId4"/>
          <a:stretch>
            <a:fillRect/>
          </a:stretch>
        </p:blipFill>
        <p:spPr>
          <a:xfrm>
            <a:off x="0" y="168514"/>
            <a:ext cx="4408714" cy="474257"/>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79429" y="1165937"/>
          <a:ext cx="4160249" cy="2333625"/>
        </p:xfrm>
        <a:graphic>
          <a:graphicData uri="http://schemas.openxmlformats.org/drawingml/2006/table">
            <a:tbl>
              <a:tblPr/>
              <a:tblGrid>
                <a:gridCol w="2690803">
                  <a:extLst>
                    <a:ext uri="{9D8B030D-6E8A-4147-A177-3AD203B41FA5}">
                      <a16:colId xmlns:a16="http://schemas.microsoft.com/office/drawing/2014/main" val="20000"/>
                    </a:ext>
                  </a:extLst>
                </a:gridCol>
                <a:gridCol w="1469446">
                  <a:extLst>
                    <a:ext uri="{9D8B030D-6E8A-4147-A177-3AD203B41FA5}">
                      <a16:colId xmlns:a16="http://schemas.microsoft.com/office/drawing/2014/main" val="20001"/>
                    </a:ext>
                  </a:extLst>
                </a:gridCol>
              </a:tblGrid>
              <a:tr h="333375">
                <a:tc>
                  <a:txBody>
                    <a:bodyPr/>
                    <a:lstStyle/>
                    <a:p>
                      <a:pPr marL="0" indent="0" algn="ctr">
                        <a:buNone/>
                      </a:pPr>
                      <a:r>
                        <a:rPr lang="en-US" sz="1050">
                          <a:solidFill>
                            <a:srgbClr val="FFFFFF"/>
                          </a:solidFill>
                        </a:rPr>
                        <a:t>评估指标</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16E85"/>
                    </a:solidFill>
                  </a:tcPr>
                </a:tc>
                <a:tc>
                  <a:txBody>
                    <a:bodyPr/>
                    <a:lstStyle/>
                    <a:p>
                      <a:pPr marL="0" indent="0" algn="ctr">
                        <a:buNone/>
                      </a:pPr>
                      <a:r>
                        <a:rPr lang="en-US" sz="1050">
                          <a:solidFill>
                            <a:srgbClr val="FFFFFF"/>
                          </a:solidFill>
                        </a:rPr>
                        <a:t>具体数值</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16E85"/>
                    </a:solidFill>
                  </a:tcPr>
                </a:tc>
                <a:extLst>
                  <a:ext uri="{0D108BD9-81ED-4DB2-BD59-A6C34878D82A}">
                    <a16:rowId xmlns:a16="http://schemas.microsoft.com/office/drawing/2014/main" val="10000"/>
                  </a:ext>
                </a:extLst>
              </a:tr>
              <a:tr h="333375">
                <a:tc>
                  <a:txBody>
                    <a:bodyPr/>
                    <a:lstStyle/>
                    <a:p>
                      <a:pPr marL="0" indent="0" algn="ctr">
                        <a:buNone/>
                      </a:pPr>
                      <a:r>
                        <a:rPr lang="en-US" sz="1050">
                          <a:solidFill>
                            <a:srgbClr val="000000"/>
                          </a:solidFill>
                        </a:rPr>
                        <a:t>平均响应时间</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tc>
                  <a:txBody>
                    <a:bodyPr/>
                    <a:lstStyle/>
                    <a:p>
                      <a:pPr marL="0" indent="0" algn="ctr">
                        <a:buNone/>
                      </a:pPr>
                      <a:r>
                        <a:rPr lang="en-US" sz="1050">
                          <a:solidFill>
                            <a:srgbClr val="000000"/>
                          </a:solidFill>
                        </a:rPr>
                        <a:t>3.2秒</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extLst>
                  <a:ext uri="{0D108BD9-81ED-4DB2-BD59-A6C34878D82A}">
                    <a16:rowId xmlns:a16="http://schemas.microsoft.com/office/drawing/2014/main" val="10001"/>
                  </a:ext>
                </a:extLst>
              </a:tr>
              <a:tr h="333375">
                <a:tc>
                  <a:txBody>
                    <a:bodyPr/>
                    <a:lstStyle/>
                    <a:p>
                      <a:pPr marL="0" indent="0" algn="ctr">
                        <a:buNone/>
                      </a:pPr>
                      <a:r>
                        <a:rPr lang="en-US" sz="1050">
                          <a:solidFill>
                            <a:srgbClr val="000000"/>
                          </a:solidFill>
                        </a:rPr>
                        <a:t>向量检索耗时</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tc>
                  <a:txBody>
                    <a:bodyPr/>
                    <a:lstStyle/>
                    <a:p>
                      <a:pPr marL="0" indent="0" algn="ctr">
                        <a:buNone/>
                      </a:pPr>
                      <a:r>
                        <a:rPr lang="en-US" sz="1050">
                          <a:solidFill>
                            <a:srgbClr val="000000"/>
                          </a:solidFill>
                        </a:rPr>
                        <a:t>80毫秒</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extLst>
                  <a:ext uri="{0D108BD9-81ED-4DB2-BD59-A6C34878D82A}">
                    <a16:rowId xmlns:a16="http://schemas.microsoft.com/office/drawing/2014/main" val="10002"/>
                  </a:ext>
                </a:extLst>
              </a:tr>
              <a:tr h="333375">
                <a:tc>
                  <a:txBody>
                    <a:bodyPr/>
                    <a:lstStyle/>
                    <a:p>
                      <a:pPr marL="0" indent="0" algn="ctr">
                        <a:buNone/>
                      </a:pPr>
                      <a:r>
                        <a:rPr lang="en-US" sz="1050">
                          <a:solidFill>
                            <a:srgbClr val="000000"/>
                          </a:solidFill>
                        </a:rPr>
                        <a:t>重排序耗时</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tc>
                  <a:txBody>
                    <a:bodyPr/>
                    <a:lstStyle/>
                    <a:p>
                      <a:pPr marL="0" indent="0" algn="ctr">
                        <a:buNone/>
                      </a:pPr>
                      <a:r>
                        <a:rPr lang="en-US" sz="1050">
                          <a:solidFill>
                            <a:srgbClr val="000000"/>
                          </a:solidFill>
                        </a:rPr>
                        <a:t>1.5秒</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extLst>
                  <a:ext uri="{0D108BD9-81ED-4DB2-BD59-A6C34878D82A}">
                    <a16:rowId xmlns:a16="http://schemas.microsoft.com/office/drawing/2014/main" val="10003"/>
                  </a:ext>
                </a:extLst>
              </a:tr>
              <a:tr h="333375">
                <a:tc>
                  <a:txBody>
                    <a:bodyPr/>
                    <a:lstStyle/>
                    <a:p>
                      <a:pPr marL="0" indent="0" algn="ctr">
                        <a:buNone/>
                      </a:pPr>
                      <a:r>
                        <a:rPr lang="en-US" sz="1050">
                          <a:solidFill>
                            <a:srgbClr val="000000"/>
                          </a:solidFill>
                        </a:rPr>
                        <a:t>答案生成耗时</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tc>
                  <a:txBody>
                    <a:bodyPr/>
                    <a:lstStyle/>
                    <a:p>
                      <a:pPr marL="0" indent="0" algn="ctr">
                        <a:buNone/>
                      </a:pPr>
                      <a:r>
                        <a:rPr lang="en-US" sz="1050">
                          <a:solidFill>
                            <a:srgbClr val="000000"/>
                          </a:solidFill>
                        </a:rPr>
                        <a:t>1.6秒</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extLst>
                  <a:ext uri="{0D108BD9-81ED-4DB2-BD59-A6C34878D82A}">
                    <a16:rowId xmlns:a16="http://schemas.microsoft.com/office/drawing/2014/main" val="10004"/>
                  </a:ext>
                </a:extLst>
              </a:tr>
              <a:tr h="333375">
                <a:tc>
                  <a:txBody>
                    <a:bodyPr/>
                    <a:lstStyle/>
                    <a:p>
                      <a:pPr marL="0" indent="0" algn="ctr">
                        <a:buNone/>
                      </a:pPr>
                      <a:r>
                        <a:rPr lang="en-US" sz="1050">
                          <a:solidFill>
                            <a:srgbClr val="000000"/>
                          </a:solidFill>
                        </a:rPr>
                        <a:t>空闲状态内存占用</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tc>
                  <a:txBody>
                    <a:bodyPr/>
                    <a:lstStyle/>
                    <a:p>
                      <a:pPr marL="0" indent="0" algn="ctr">
                        <a:buNone/>
                      </a:pPr>
                      <a:r>
                        <a:rPr lang="en-US" sz="1050">
                          <a:solidFill>
                            <a:srgbClr val="000000"/>
                          </a:solidFill>
                        </a:rPr>
                        <a:t>480MB</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E7F0F3"/>
                    </a:solidFill>
                  </a:tcPr>
                </a:tc>
                <a:extLst>
                  <a:ext uri="{0D108BD9-81ED-4DB2-BD59-A6C34878D82A}">
                    <a16:rowId xmlns:a16="http://schemas.microsoft.com/office/drawing/2014/main" val="10005"/>
                  </a:ext>
                </a:extLst>
              </a:tr>
              <a:tr h="333375">
                <a:tc>
                  <a:txBody>
                    <a:bodyPr/>
                    <a:lstStyle/>
                    <a:p>
                      <a:pPr marL="0" indent="0" algn="ctr">
                        <a:buNone/>
                      </a:pPr>
                      <a:r>
                        <a:rPr lang="en-US" sz="1050">
                          <a:solidFill>
                            <a:srgbClr val="000000"/>
                          </a:solidFill>
                        </a:rPr>
                        <a:t>处理查询内存峰值</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tc>
                  <a:txBody>
                    <a:bodyPr/>
                    <a:lstStyle/>
                    <a:p>
                      <a:pPr marL="0" indent="0" algn="ctr">
                        <a:buNone/>
                      </a:pPr>
                      <a:r>
                        <a:rPr lang="en-US" sz="1050">
                          <a:solidFill>
                            <a:srgbClr val="000000"/>
                          </a:solidFill>
                        </a:rPr>
                        <a:t>760MB</a:t>
                      </a:r>
                      <a:endParaRPr lang="en-US" sz="105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C7DDE3"/>
                    </a:solidFill>
                  </a:tcPr>
                </a:tc>
                <a:extLst>
                  <a:ext uri="{0D108BD9-81ED-4DB2-BD59-A6C34878D82A}">
                    <a16:rowId xmlns:a16="http://schemas.microsoft.com/office/drawing/2014/main" val="10006"/>
                  </a:ext>
                </a:extLst>
              </a:tr>
            </a:tbl>
          </a:graphicData>
        </a:graphic>
      </p:graphicFrame>
      <p:pic>
        <p:nvPicPr>
          <p:cNvPr id="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75725" y="802783"/>
            <a:ext cx="1220108" cy="1480633"/>
          </a:xfrm>
          <a:prstGeom prst="rect">
            <a:avLst/>
          </a:prstGeom>
        </p:spPr>
      </p:pic>
      <p:pic>
        <p:nvPicPr>
          <p:cNvPr id="6" name="Image 3" descr="preencoded.png"/>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6018296" y="802783"/>
            <a:ext cx="1220108" cy="1480633"/>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4675725" y="2399354"/>
            <a:ext cx="1220108" cy="1480633"/>
          </a:xfrm>
          <a:prstGeom prst="rect">
            <a:avLst/>
          </a:prstGeom>
        </p:spPr>
      </p:pic>
      <p:pic>
        <p:nvPicPr>
          <p:cNvPr id="8" name="Image 5" descr="preencoded.png"/>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6018296" y="2399354"/>
            <a:ext cx="1220108" cy="1480633"/>
          </a:xfrm>
          <a:prstGeom prst="rect">
            <a:avLst/>
          </a:prstGeom>
        </p:spPr>
      </p:pic>
      <p:sp>
        <p:nvSpPr>
          <p:cNvPr id="9" name="Text 0"/>
          <p:cNvSpPr/>
          <p:nvPr/>
        </p:nvSpPr>
        <p:spPr>
          <a:xfrm>
            <a:off x="6143072" y="2476915"/>
            <a:ext cx="977410"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运行稳定性</a:t>
            </a:r>
            <a:endParaRPr lang="en-US" sz="1200"/>
          </a:p>
        </p:txBody>
      </p:sp>
      <p:sp>
        <p:nvSpPr>
          <p:cNvPr id="10" name="Text 1"/>
          <p:cNvSpPr/>
          <p:nvPr/>
        </p:nvSpPr>
        <p:spPr>
          <a:xfrm>
            <a:off x="6143972" y="1132463"/>
            <a:ext cx="975610" cy="9906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404040"/>
                </a:solidFill>
                <a:latin typeface="SourceHanSansCN-Regular"/>
                <a:ea typeface="SourceHanSansCN-Regular"/>
                <a:cs typeface="SourceHanSansCN-Regular"/>
              </a:rPr>
              <a:t>系统对内存资源的需求在可控范围内。在空闲状态下，系统约占用480MB内存；在处理用户查询时，内存占用峰值约为760MB。这表明系统对硬件资源的要求不高，易于部署。</a:t>
            </a:r>
            <a:endParaRPr lang="en-US" sz="750"/>
          </a:p>
        </p:txBody>
      </p:sp>
      <p:sp>
        <p:nvSpPr>
          <p:cNvPr id="11" name="Text 2"/>
          <p:cNvSpPr/>
          <p:nvPr/>
        </p:nvSpPr>
        <p:spPr>
          <a:xfrm>
            <a:off x="4801481" y="2729034"/>
            <a:ext cx="975548" cy="89058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884"/>
              </a:lnSpc>
              <a:buNone/>
            </a:pPr>
            <a:r>
              <a:rPr lang="en-US" sz="680">
                <a:solidFill>
                  <a:srgbClr val="404040"/>
                </a:solidFill>
                <a:latin typeface="SourceHanSansCN-Regular"/>
                <a:ea typeface="SourceHanSansCN-Regular"/>
                <a:cs typeface="SourceHanSansCN-Regular"/>
              </a:rPr>
              <a:t>在3.2秒的总耗时中，各个模块的耗时分布清晰。向量检索阶段速度最快，约80毫秒；计算开销最大的部分是重排序，约1.5秒；其次是答案生成阶段，约1.6秒。重排序是性能优化的关键点。</a:t>
            </a:r>
            <a:endParaRPr lang="en-US" sz="680"/>
          </a:p>
        </p:txBody>
      </p:sp>
      <p:sp>
        <p:nvSpPr>
          <p:cNvPr id="12" name="Text 3"/>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系统性能评估</a:t>
            </a:r>
            <a:endParaRPr lang="en-US" sz="1730"/>
          </a:p>
        </p:txBody>
      </p:sp>
      <p:sp>
        <p:nvSpPr>
          <p:cNvPr id="13" name="Text 4"/>
          <p:cNvSpPr/>
          <p:nvPr/>
        </p:nvSpPr>
        <p:spPr>
          <a:xfrm>
            <a:off x="6143972" y="2729034"/>
            <a:ext cx="975610" cy="89058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884"/>
              </a:lnSpc>
              <a:buNone/>
            </a:pPr>
            <a:r>
              <a:rPr lang="en-US" sz="680">
                <a:solidFill>
                  <a:srgbClr val="404040"/>
                </a:solidFill>
                <a:latin typeface="SourceHanSansCN-Regular"/>
                <a:ea typeface="SourceHanSansCN-Regular"/>
                <a:cs typeface="SourceHanSansCN-Regular"/>
              </a:rPr>
              <a:t>在仅使用CPU的条件下，系统运行稳定，能够持续处理连续的问答请求而不会出现崩溃或显著的性能下降。这证明了所选技术栈的成熟度和系统架构的合理性，满足了原型验证的实时性要求。</a:t>
            </a:r>
            <a:endParaRPr lang="en-US" sz="680"/>
          </a:p>
        </p:txBody>
      </p:sp>
      <p:sp>
        <p:nvSpPr>
          <p:cNvPr id="14" name="Text 5"/>
          <p:cNvSpPr/>
          <p:nvPr/>
        </p:nvSpPr>
        <p:spPr>
          <a:xfrm>
            <a:off x="4800580" y="2476915"/>
            <a:ext cx="977348"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时间消耗分解</a:t>
            </a:r>
            <a:endParaRPr lang="en-US" sz="1200"/>
          </a:p>
        </p:txBody>
      </p:sp>
      <p:sp>
        <p:nvSpPr>
          <p:cNvPr id="15" name="Text 6"/>
          <p:cNvSpPr/>
          <p:nvPr/>
        </p:nvSpPr>
        <p:spPr>
          <a:xfrm>
            <a:off x="4800456" y="880344"/>
            <a:ext cx="977410"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平均响应时间</a:t>
            </a:r>
            <a:endParaRPr lang="en-US" sz="1200"/>
          </a:p>
        </p:txBody>
      </p:sp>
      <p:sp>
        <p:nvSpPr>
          <p:cNvPr id="16" name="Text 7"/>
          <p:cNvSpPr/>
          <p:nvPr/>
        </p:nvSpPr>
        <p:spPr>
          <a:xfrm>
            <a:off x="6143072" y="880344"/>
            <a:ext cx="977410"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116E85"/>
                </a:solidFill>
                <a:latin typeface="SourceHanSansCN-Regular"/>
                <a:ea typeface="SourceHanSansCN-Regular"/>
                <a:cs typeface="SourceHanSansCN-Regular"/>
              </a:rPr>
              <a:t>内存资源占用</a:t>
            </a:r>
            <a:endParaRPr lang="en-US" sz="1200"/>
          </a:p>
        </p:txBody>
      </p:sp>
      <p:sp>
        <p:nvSpPr>
          <p:cNvPr id="17" name="Text 8"/>
          <p:cNvSpPr/>
          <p:nvPr/>
        </p:nvSpPr>
        <p:spPr>
          <a:xfrm>
            <a:off x="4801357" y="1132463"/>
            <a:ext cx="975610" cy="9906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975"/>
              </a:lnSpc>
              <a:buNone/>
            </a:pPr>
            <a:r>
              <a:rPr lang="en-US" sz="750">
                <a:solidFill>
                  <a:srgbClr val="404040"/>
                </a:solidFill>
                <a:latin typeface="SourceHanSansCN-Regular"/>
                <a:ea typeface="SourceHanSansCN-Regular"/>
                <a:cs typeface="SourceHanSansCN-Regular"/>
              </a:rPr>
              <a:t>在本地CPU环境下，系统完成一次从提问到回答的完整流程，平均耗时为3.2秒。这个响应速度对于教学演示和原型验证场景是完全可以接受的，能够提供较为流畅的实时交互体验。</a:t>
            </a:r>
            <a:endParaRPr lang="en-US" sz="7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82401" y="993555"/>
            <a:ext cx="6664423" cy="4572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600"/>
              </a:lnSpc>
              <a:buNone/>
            </a:pPr>
            <a:r>
              <a:rPr lang="en-US" sz="3000">
                <a:solidFill>
                  <a:srgbClr val="146266"/>
                </a:solidFill>
              </a:rPr>
              <a:t>第四章 总结与展望</a:t>
            </a:r>
            <a:endParaRPr lang="en-US" sz="3000"/>
          </a:p>
        </p:txBody>
      </p:sp>
      <p:sp>
        <p:nvSpPr>
          <p:cNvPr id="3" name="Text 1"/>
          <p:cNvSpPr/>
          <p:nvPr/>
        </p:nvSpPr>
        <p:spPr>
          <a:xfrm>
            <a:off x="2920801" y="564938"/>
            <a:ext cx="1787623" cy="304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436"/>
              </a:lnSpc>
              <a:buNone/>
            </a:pPr>
            <a:r>
              <a:rPr lang="en-US" sz="2030">
                <a:solidFill>
                  <a:srgbClr val="146266"/>
                </a:solidFill>
              </a:rPr>
              <a:t>Part.04</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d0eff3a5c61f2d0d0385ceee732e70c5.png"/>
          <p:cNvPicPr>
            <a:picLocks noChangeAspect="1"/>
          </p:cNvPicPr>
          <p:nvPr/>
        </p:nvPicPr>
        <p:blipFill>
          <a:blip r:embed="rId4"/>
          <a:stretch>
            <a:fillRect/>
          </a:stretch>
        </p:blipFill>
        <p:spPr>
          <a:xfrm>
            <a:off x="0" y="168514"/>
            <a:ext cx="4408714" cy="474257"/>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83714" y="2378254"/>
            <a:ext cx="3253466" cy="1332569"/>
          </a:xfrm>
          <a:prstGeom prst="rect">
            <a:avLst/>
          </a:prstGeom>
        </p:spPr>
      </p:pic>
      <p:pic>
        <p:nvPicPr>
          <p:cNvPr id="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821" y="2378254"/>
            <a:ext cx="3253464" cy="1332569"/>
          </a:xfrm>
          <a:prstGeom prst="rect">
            <a:avLst/>
          </a:prstGeom>
        </p:spPr>
      </p:pic>
      <p:pic>
        <p:nvPicPr>
          <p:cNvPr id="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83714" y="916714"/>
            <a:ext cx="3253466" cy="1332569"/>
          </a:xfrm>
          <a:prstGeom prst="rect">
            <a:avLst/>
          </a:prstGeom>
        </p:spPr>
      </p:pic>
      <p:pic>
        <p:nvPicPr>
          <p:cNvPr id="7"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2821" y="916714"/>
            <a:ext cx="3253464" cy="1332569"/>
          </a:xfrm>
          <a:prstGeom prst="rect">
            <a:avLst/>
          </a:prstGeom>
        </p:spPr>
      </p:pic>
      <p:pic>
        <p:nvPicPr>
          <p:cNvPr id="8" name="Image 6" descr="https://test.web.static.jianzeppt.com/ppt-temp-img3/6ec6f67a658231844da8145292969f7a.png"/>
          <p:cNvPicPr>
            <a:picLocks noChangeAspect="1"/>
          </p:cNvPicPr>
          <p:nvPr/>
        </p:nvPicPr>
        <p:blipFill>
          <a:blip r:embed="rId13"/>
          <a:stretch>
            <a:fillRect/>
          </a:stretch>
        </p:blipFill>
        <p:spPr>
          <a:xfrm>
            <a:off x="614424" y="926067"/>
            <a:ext cx="1749850" cy="288696"/>
          </a:xfrm>
          <a:prstGeom prst="rect">
            <a:avLst/>
          </a:prstGeom>
        </p:spPr>
      </p:pic>
      <p:pic>
        <p:nvPicPr>
          <p:cNvPr id="9" name="Image 7" descr="https://test.web.static.jianzeppt.com/ppt-temp-img3/d302470851ca2462882003e367114dc0.png"/>
          <p:cNvPicPr>
            <a:picLocks noChangeAspect="1"/>
          </p:cNvPicPr>
          <p:nvPr/>
        </p:nvPicPr>
        <p:blipFill>
          <a:blip r:embed="rId14"/>
          <a:stretch>
            <a:fillRect/>
          </a:stretch>
        </p:blipFill>
        <p:spPr>
          <a:xfrm>
            <a:off x="4015317" y="926067"/>
            <a:ext cx="1749851" cy="288696"/>
          </a:xfrm>
          <a:prstGeom prst="rect">
            <a:avLst/>
          </a:prstGeom>
        </p:spPr>
      </p:pic>
      <p:pic>
        <p:nvPicPr>
          <p:cNvPr id="10" name="Image 8" descr="https://test.web.static.jianzeppt.com/ppt-temp-img3/f3589370edf42653186ece2d079724a5.png"/>
          <p:cNvPicPr>
            <a:picLocks noChangeAspect="1"/>
          </p:cNvPicPr>
          <p:nvPr/>
        </p:nvPicPr>
        <p:blipFill>
          <a:blip r:embed="rId15"/>
          <a:stretch>
            <a:fillRect/>
          </a:stretch>
        </p:blipFill>
        <p:spPr>
          <a:xfrm>
            <a:off x="614424" y="2387608"/>
            <a:ext cx="1749850" cy="288696"/>
          </a:xfrm>
          <a:prstGeom prst="rect">
            <a:avLst/>
          </a:prstGeom>
        </p:spPr>
      </p:pic>
      <p:pic>
        <p:nvPicPr>
          <p:cNvPr id="11" name="Image 9" descr="https://test.web.static.jianzeppt.com/ppt-temp-img3/8809ab4e844d4d1bff48a68f1a02503d.png"/>
          <p:cNvPicPr>
            <a:picLocks noChangeAspect="1"/>
          </p:cNvPicPr>
          <p:nvPr/>
        </p:nvPicPr>
        <p:blipFill>
          <a:blip r:embed="rId16"/>
          <a:stretch>
            <a:fillRect/>
          </a:stretch>
        </p:blipFill>
        <p:spPr>
          <a:xfrm>
            <a:off x="4015317" y="2387608"/>
            <a:ext cx="1749851" cy="288696"/>
          </a:xfrm>
          <a:prstGeom prst="rect">
            <a:avLst/>
          </a:prstGeom>
        </p:spPr>
      </p:pic>
      <p:sp>
        <p:nvSpPr>
          <p:cNvPr id="12" name="Text 0"/>
          <p:cNvSpPr/>
          <p:nvPr/>
        </p:nvSpPr>
        <p:spPr>
          <a:xfrm>
            <a:off x="4143005" y="2432911"/>
            <a:ext cx="151613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FFFFFF"/>
                </a:solidFill>
                <a:latin typeface="SourceHanSansCN-Regular"/>
                <a:ea typeface="SourceHanSansCN-Regular"/>
                <a:cs typeface="SourceHanSansCN-Regular"/>
              </a:rPr>
              <a:t>主要研究价值</a:t>
            </a:r>
            <a:endParaRPr lang="en-US" sz="1200"/>
          </a:p>
        </p:txBody>
      </p:sp>
      <p:sp>
        <p:nvSpPr>
          <p:cNvPr id="13" name="Text 1"/>
          <p:cNvSpPr/>
          <p:nvPr/>
        </p:nvSpPr>
        <p:spPr>
          <a:xfrm>
            <a:off x="620821" y="1317688"/>
            <a:ext cx="2986608" cy="6929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本研究基于检索增强生成技术，成功构建了一个面向中文医疗领域的轻量级智能问答原型系统。该系统验证了在垂直领域中，利用开源工具快速搭建实用RAG应用的可行性。</a:t>
            </a:r>
            <a:endParaRPr lang="en-US" sz="1050"/>
          </a:p>
        </p:txBody>
      </p:sp>
      <p:sp>
        <p:nvSpPr>
          <p:cNvPr id="14" name="Text 2"/>
          <p:cNvSpPr/>
          <p:nvPr/>
        </p:nvSpPr>
        <p:spPr>
          <a:xfrm>
            <a:off x="742112" y="971371"/>
            <a:ext cx="151613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FFFFFF"/>
                </a:solidFill>
                <a:latin typeface="SourceHanSansCN-Regular"/>
                <a:ea typeface="SourceHanSansCN-Regular"/>
                <a:cs typeface="SourceHanSansCN-Regular"/>
              </a:rPr>
              <a:t>系统构建概述</a:t>
            </a:r>
            <a:endParaRPr lang="en-US" sz="1200"/>
          </a:p>
        </p:txBody>
      </p:sp>
      <p:sp>
        <p:nvSpPr>
          <p:cNvPr id="15" name="Text 3"/>
          <p:cNvSpPr/>
          <p:nvPr/>
        </p:nvSpPr>
        <p:spPr>
          <a:xfrm>
            <a:off x="742112" y="2432911"/>
            <a:ext cx="151613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FFFFFF"/>
                </a:solidFill>
                <a:latin typeface="SourceHanSansCN-Regular"/>
                <a:ea typeface="SourceHanSansCN-Regular"/>
                <a:cs typeface="SourceHanSansCN-Regular"/>
              </a:rPr>
              <a:t>核心技术集成</a:t>
            </a:r>
            <a:endParaRPr lang="en-US" sz="1200"/>
          </a:p>
        </p:txBody>
      </p:sp>
      <p:sp>
        <p:nvSpPr>
          <p:cNvPr id="16" name="Text 4"/>
          <p:cNvSpPr/>
          <p:nvPr/>
        </p:nvSpPr>
        <p:spPr>
          <a:xfrm>
            <a:off x="620821" y="2779229"/>
            <a:ext cx="2986608" cy="6929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系统采用完全开源的技术栈，整合了Streamlit交互前端与ChromaDB向量数据库后端，实现了从文档预处理、向量化检索、重排序优化到答案生成的端到端完整流程。</a:t>
            </a:r>
            <a:endParaRPr lang="en-US" sz="1050"/>
          </a:p>
        </p:txBody>
      </p:sp>
      <p:sp>
        <p:nvSpPr>
          <p:cNvPr id="17" name="Text 5"/>
          <p:cNvSpPr/>
          <p:nvPr/>
        </p:nvSpPr>
        <p:spPr>
          <a:xfrm>
            <a:off x="4021714" y="1317688"/>
            <a:ext cx="2986608" cy="6929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针对医疗文本的特点，设计了基于滑动窗口的语义分块策略；通过引入BGE-Reranker交叉编码器，显著提升了上下文与查询意图的匹配精度；并利用会话状态管理实现了多轮对话功能。</a:t>
            </a:r>
            <a:endParaRPr lang="en-US" sz="1050"/>
          </a:p>
        </p:txBody>
      </p:sp>
      <p:sp>
        <p:nvSpPr>
          <p:cNvPr id="18" name="Text 6"/>
          <p:cNvSpPr/>
          <p:nvPr/>
        </p:nvSpPr>
        <p:spPr>
          <a:xfrm>
            <a:off x="4143005" y="971371"/>
            <a:ext cx="1516137" cy="19809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200" b="1">
                <a:solidFill>
                  <a:srgbClr val="FFFFFF"/>
                </a:solidFill>
                <a:latin typeface="SourceHanSansCN-Regular"/>
                <a:ea typeface="SourceHanSansCN-Regular"/>
                <a:cs typeface="SourceHanSansCN-Regular"/>
              </a:rPr>
              <a:t>关键优化设计</a:t>
            </a:r>
            <a:endParaRPr lang="en-US" sz="1200"/>
          </a:p>
        </p:txBody>
      </p:sp>
      <p:sp>
        <p:nvSpPr>
          <p:cNvPr id="19" name="Text 7"/>
          <p:cNvSpPr/>
          <p:nvPr/>
        </p:nvSpPr>
        <p:spPr>
          <a:xfrm>
            <a:off x="4021714" y="2779229"/>
            <a:ext cx="2986608" cy="6929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65"/>
              </a:lnSpc>
              <a:buNone/>
            </a:pPr>
            <a:r>
              <a:rPr lang="en-US" sz="1050">
                <a:solidFill>
                  <a:srgbClr val="3E3E3E"/>
                </a:solidFill>
                <a:latin typeface="SourceHanSansCN-Regular"/>
                <a:ea typeface="SourceHanSansCN-Regular"/>
                <a:cs typeface="SourceHanSansCN-Regular"/>
              </a:rPr>
              <a:t>实验结果表明，系统能有效召回相关文档并生成基于事实的准确回答。本研究提供了一套可复现、易部署的技术实现方案，为类似课程实验或快速原型开发项目提供了有价值的参考。</a:t>
            </a:r>
            <a:endParaRPr lang="en-US" sz="1050"/>
          </a:p>
        </p:txBody>
      </p:sp>
      <p:sp>
        <p:nvSpPr>
          <p:cNvPr id="20" name="Text 8"/>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研究工作总结</a:t>
            </a:r>
            <a:endParaRPr lang="en-US" sz="17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f57b3d5ca2780f19ea613eeb73e58c35.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556475" y="963332"/>
            <a:ext cx="1237525" cy="19809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知识库规模有限</a:t>
            </a:r>
            <a:endParaRPr lang="en-US" sz="1200"/>
          </a:p>
        </p:txBody>
      </p:sp>
      <p:sp>
        <p:nvSpPr>
          <p:cNvPr id="5" name="Text 1"/>
          <p:cNvSpPr/>
          <p:nvPr/>
        </p:nvSpPr>
        <p:spPr>
          <a:xfrm>
            <a:off x="2132495" y="2504379"/>
            <a:ext cx="1237525"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000000"/>
                </a:solidFill>
                <a:latin typeface="SourceHanSansCN-Regular"/>
                <a:ea typeface="SourceHanSansCN-Regular"/>
                <a:cs typeface="SourceHanSansCN-Regular"/>
              </a:rPr>
              <a:t>系统采用的生成模型为基础的GPT-2，其模型参数量和生成能力相对有限。这导致生成的答案在语言流畅性、专业术语的运用以及回答内容的深度方面，与当前更先进的大模型存在明显差距。</a:t>
            </a:r>
            <a:endParaRPr lang="en-US" sz="900"/>
          </a:p>
        </p:txBody>
      </p:sp>
      <p:sp>
        <p:nvSpPr>
          <p:cNvPr id="6" name="Text 2"/>
          <p:cNvSpPr/>
          <p:nvPr/>
        </p:nvSpPr>
        <p:spPr>
          <a:xfrm>
            <a:off x="4040406" y="864311"/>
            <a:ext cx="1237525" cy="19809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专业理解能力欠缺</a:t>
            </a:r>
            <a:endParaRPr lang="en-US" sz="1200"/>
          </a:p>
        </p:txBody>
      </p:sp>
      <p:sp>
        <p:nvSpPr>
          <p:cNvPr id="7" name="Text 3"/>
          <p:cNvSpPr/>
          <p:nvPr/>
        </p:nvSpPr>
        <p:spPr>
          <a:xfrm>
            <a:off x="5842630" y="2578645"/>
            <a:ext cx="1237525"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000000"/>
                </a:solidFill>
                <a:latin typeface="SourceHanSansCN-Regular"/>
                <a:ea typeface="SourceHanSansCN-Regular"/>
                <a:cs typeface="SourceHanSansCN-Regular"/>
              </a:rPr>
              <a:t>实验主要采用定性分析，虽然直观但缺乏客观量化指标。未来需要引入更完善的评估体系，包括自动评估指标（如BLEU、ROUGE）和专业的医学专家人工评估，以更科学地衡量系统性能。</a:t>
            </a:r>
            <a:endParaRPr lang="en-US" sz="900"/>
          </a:p>
        </p:txBody>
      </p:sp>
      <p:sp>
        <p:nvSpPr>
          <p:cNvPr id="8" name="Text 4"/>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系统局限分析</a:t>
            </a:r>
            <a:endParaRPr lang="en-US" sz="1730"/>
          </a:p>
        </p:txBody>
      </p:sp>
      <p:sp>
        <p:nvSpPr>
          <p:cNvPr id="9" name="Text 5"/>
          <p:cNvSpPr/>
          <p:nvPr/>
        </p:nvSpPr>
        <p:spPr>
          <a:xfrm>
            <a:off x="4040405" y="1241870"/>
            <a:ext cx="1237525"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000000"/>
                </a:solidFill>
                <a:latin typeface="SourceHanSansCN-Regular"/>
                <a:ea typeface="SourceHanSansCN-Regular"/>
                <a:cs typeface="SourceHanSansCN-Regular"/>
              </a:rPr>
              <a:t>当前系统主要依赖于通用的语义相似度匹配，缺乏对医学专业术语、疾病与症状之间复杂逻辑关系的深入理解和推理能力。例如，它无法像医学专家那样进行鉴别诊断或分析复杂的病例。</a:t>
            </a:r>
            <a:endParaRPr lang="en-US" sz="900"/>
          </a:p>
        </p:txBody>
      </p:sp>
      <p:sp>
        <p:nvSpPr>
          <p:cNvPr id="10" name="Text 6"/>
          <p:cNvSpPr/>
          <p:nvPr/>
        </p:nvSpPr>
        <p:spPr>
          <a:xfrm>
            <a:off x="5797423" y="2242145"/>
            <a:ext cx="1237525" cy="19809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评估体系有待完善</a:t>
            </a:r>
            <a:endParaRPr lang="en-US" sz="1200"/>
          </a:p>
        </p:txBody>
      </p:sp>
      <p:sp>
        <p:nvSpPr>
          <p:cNvPr id="11" name="Text 7"/>
          <p:cNvSpPr/>
          <p:nvPr/>
        </p:nvSpPr>
        <p:spPr>
          <a:xfrm>
            <a:off x="556475" y="1316135"/>
            <a:ext cx="1237525" cy="11882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000000"/>
                </a:solidFill>
                <a:latin typeface="SourceHanSansCN-Regular"/>
                <a:ea typeface="SourceHanSansCN-Regular"/>
                <a:cs typeface="SourceHanSansCN-Regular"/>
              </a:rPr>
              <a:t>本研究作为课程实验探索，其构建的知识库规模较小且主题单一（仅限血液疾病），难以覆盖真实世界中复杂多样的医疗咨询需求，这限制了系统的泛化能力和实用范围。</a:t>
            </a:r>
            <a:endParaRPr lang="en-US" sz="900"/>
          </a:p>
        </p:txBody>
      </p:sp>
      <p:sp>
        <p:nvSpPr>
          <p:cNvPr id="12" name="Text 8"/>
          <p:cNvSpPr/>
          <p:nvPr/>
        </p:nvSpPr>
        <p:spPr>
          <a:xfrm>
            <a:off x="2132495" y="2143125"/>
            <a:ext cx="1237525" cy="19809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60"/>
              </a:lnSpc>
              <a:buNone/>
            </a:pPr>
            <a:r>
              <a:rPr lang="en-US" sz="1200" b="1">
                <a:solidFill>
                  <a:srgbClr val="000000"/>
                </a:solidFill>
                <a:latin typeface="SourceHanSansCN-Regular"/>
                <a:ea typeface="SourceHanSansCN-Regular"/>
                <a:cs typeface="SourceHanSansCN-Regular"/>
              </a:rPr>
              <a:t>生成模型能力不足</a:t>
            </a:r>
            <a:endParaRPr lang="en-US" sz="1200"/>
          </a:p>
        </p:txBody>
      </p:sp>
      <p:sp>
        <p:nvSpPr>
          <p:cNvPr id="13" name="Text 9"/>
          <p:cNvSpPr/>
          <p:nvPr/>
        </p:nvSpPr>
        <p:spPr>
          <a:xfrm>
            <a:off x="479438" y="611733"/>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14" name="Text 10"/>
          <p:cNvSpPr/>
          <p:nvPr/>
        </p:nvSpPr>
        <p:spPr>
          <a:xfrm>
            <a:off x="4040405" y="557328"/>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15" name="Text 11"/>
          <p:cNvSpPr/>
          <p:nvPr/>
        </p:nvSpPr>
        <p:spPr>
          <a:xfrm>
            <a:off x="2111858" y="1756766"/>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6" name="Text 12"/>
          <p:cNvSpPr/>
          <p:nvPr/>
        </p:nvSpPr>
        <p:spPr>
          <a:xfrm>
            <a:off x="5832313" y="1836142"/>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dur="750" fill="hold" grpId="4"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par>
                          <p:cTn id="17" fill="hold" nodeType="afterGroup">
                            <p:stCondLst>
                              <p:cond delay="500"/>
                            </p:stCondLst>
                            <p:childTnLst>
                              <p:par>
                                <p:cTn id="18" presetID="10" presetClass="entr" presetSubtype="0" dur="750" fill="hold" grpId="5"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dur="750" fill="hold" grpId="7"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dur="750" fill="hold" grpId="8"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nodeType="afterGroup">
                            <p:stCondLst>
                              <p:cond delay="1000"/>
                            </p:stCondLst>
                            <p:childTnLst>
                              <p:par>
                                <p:cTn id="31" presetID="10" presetClass="entr" presetSubtype="0" dur="750" fill="hold" grpId="9"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dur="750" fill="hold" grpId="1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dur="750" fill="hold" grpId="11"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nodeType="afterGroup">
                            <p:stCondLst>
                              <p:cond delay="1500"/>
                            </p:stCondLst>
                            <p:childTnLst>
                              <p:par>
                                <p:cTn id="41" presetID="10" presetClass="entr" presetSubtype="0" dur="750" fill="hold" grpId="12"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2" animBg="1"/>
      <p:bldP spid="5" grpId="6" animBg="1"/>
      <p:bldP spid="6" grpId="7" animBg="1"/>
      <p:bldP spid="7" grpId="11" animBg="1"/>
      <p:bldP spid="9" grpId="8" animBg="1"/>
      <p:bldP spid="10" grpId="10" animBg="1"/>
      <p:bldP spid="11" grpId="3" animBg="1"/>
      <p:bldP spid="12" grpId="4" animBg="1"/>
      <p:bldP spid="13" grpId="1" animBg="1"/>
      <p:bldP spid="14" grpId="9" animBg="1"/>
      <p:bldP spid="15" grpId="5" animBg="1"/>
      <p:bldP spid="16" grpId="12"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ttps://test.web.static.jianzeppt.com/ppt-temp-img3/c424ac67007e5409ecd1e36ba215c96e.png"/>
          <p:cNvPicPr>
            <a:picLocks noChangeAspect="1"/>
          </p:cNvPicPr>
          <p:nvPr/>
        </p:nvPicPr>
        <p:blipFill>
          <a:blip r:embed="rId3"/>
          <a:stretch>
            <a:fillRect/>
          </a:stretch>
        </p:blipFill>
        <p:spPr>
          <a:xfrm>
            <a:off x="0" y="0"/>
            <a:ext cx="7620000" cy="4286250"/>
          </a:xfrm>
          <a:prstGeom prst="rect">
            <a:avLst/>
          </a:prstGeom>
        </p:spPr>
      </p:pic>
      <p:pic>
        <p:nvPicPr>
          <p:cNvPr id="3" name="Image 1" descr="https://test.web.static.jianzeppt.com/ppt-temp-img3/41449513b6e3922f6dca2cc30c454ee9.png"/>
          <p:cNvPicPr>
            <a:picLocks noChangeAspect="1"/>
          </p:cNvPicPr>
          <p:nvPr/>
        </p:nvPicPr>
        <p:blipFill>
          <a:blip r:embed="rId4"/>
          <a:stretch>
            <a:fillRect/>
          </a:stretch>
        </p:blipFill>
        <p:spPr>
          <a:xfrm>
            <a:off x="0" y="168514"/>
            <a:ext cx="4408714" cy="474257"/>
          </a:xfrm>
          <a:prstGeom prst="rect">
            <a:avLst/>
          </a:prstGeom>
        </p:spPr>
      </p:pic>
      <p:sp>
        <p:nvSpPr>
          <p:cNvPr id="4" name="Text 0"/>
          <p:cNvSpPr/>
          <p:nvPr/>
        </p:nvSpPr>
        <p:spPr>
          <a:xfrm>
            <a:off x="588053" y="1317872"/>
            <a:ext cx="1206607" cy="118824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未来的首要任务是扩展知识库，纳入更多疾病类型、最新的临床指南、药物手册以及权威医学教科书。构建一个多源、异构、高质量的医疗知识库是提升系统能力的基础。</a:t>
            </a:r>
            <a:endParaRPr lang="en-US" sz="900"/>
          </a:p>
        </p:txBody>
      </p:sp>
      <p:sp>
        <p:nvSpPr>
          <p:cNvPr id="5" name="Text 1"/>
          <p:cNvSpPr/>
          <p:nvPr/>
        </p:nvSpPr>
        <p:spPr>
          <a:xfrm>
            <a:off x="3830406" y="1182124"/>
            <a:ext cx="1206607"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探索知识图谱与向量检索相结合的GraphRAG技术。通过构建医疗知识图谱来建模疾病、症状、药物间的复杂关系，可以实现更深层次的语义理解和推理，从而生成更精准、更具解释性的答案。</a:t>
            </a:r>
            <a:endParaRPr lang="en-US" sz="900"/>
          </a:p>
        </p:txBody>
      </p:sp>
      <p:sp>
        <p:nvSpPr>
          <p:cNvPr id="6" name="Text 2"/>
          <p:cNvSpPr/>
          <p:nvPr/>
        </p:nvSpPr>
        <p:spPr>
          <a:xfrm>
            <a:off x="587153" y="1058276"/>
            <a:ext cx="1208407" cy="18573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469"/>
              </a:lnSpc>
              <a:buNone/>
            </a:pPr>
            <a:r>
              <a:rPr lang="en-US" sz="1130" b="1">
                <a:solidFill>
                  <a:srgbClr val="000000"/>
                </a:solidFill>
                <a:latin typeface="SourceHanSansCN-Regular"/>
                <a:ea typeface="SourceHanSansCN-Regular"/>
                <a:cs typeface="SourceHanSansCN-Regular"/>
              </a:rPr>
              <a:t>扩展高质量知识库</a:t>
            </a:r>
            <a:endParaRPr lang="en-US" sz="1130"/>
          </a:p>
        </p:txBody>
      </p:sp>
      <p:sp>
        <p:nvSpPr>
          <p:cNvPr id="7" name="Text 3"/>
          <p:cNvSpPr/>
          <p:nvPr/>
        </p:nvSpPr>
        <p:spPr>
          <a:xfrm>
            <a:off x="3819523" y="941131"/>
            <a:ext cx="1208407" cy="148530"/>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b="1">
                <a:solidFill>
                  <a:srgbClr val="000000"/>
                </a:solidFill>
                <a:latin typeface="SourceHanSansCN-Regular"/>
                <a:ea typeface="SourceHanSansCN-Regular"/>
                <a:cs typeface="SourceHanSansCN-Regular"/>
              </a:rPr>
              <a:t>探索GraphRAG架构</a:t>
            </a:r>
            <a:endParaRPr lang="en-US" sz="900"/>
          </a:p>
        </p:txBody>
      </p:sp>
      <p:sp>
        <p:nvSpPr>
          <p:cNvPr id="8" name="Text 4"/>
          <p:cNvSpPr/>
          <p:nvPr/>
        </p:nvSpPr>
        <p:spPr>
          <a:xfrm>
            <a:off x="5529245" y="2401035"/>
            <a:ext cx="1208407" cy="160883"/>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274"/>
              </a:lnSpc>
              <a:buNone/>
            </a:pPr>
            <a:r>
              <a:rPr lang="en-US" sz="980" b="1">
                <a:solidFill>
                  <a:srgbClr val="000000"/>
                </a:solidFill>
                <a:latin typeface="SourceHanSansCN-Regular"/>
                <a:ea typeface="SourceHanSansCN-Regular"/>
                <a:cs typeface="SourceHanSansCN-Regular"/>
              </a:rPr>
              <a:t>完善评估与反馈机制</a:t>
            </a:r>
            <a:endParaRPr lang="en-US" sz="980"/>
          </a:p>
        </p:txBody>
      </p:sp>
      <p:sp>
        <p:nvSpPr>
          <p:cNvPr id="9" name="Text 5"/>
          <p:cNvSpPr/>
          <p:nvPr/>
        </p:nvSpPr>
        <p:spPr>
          <a:xfrm>
            <a:off x="403818" y="273348"/>
            <a:ext cx="6821507" cy="2665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76"/>
              </a:lnSpc>
              <a:buNone/>
            </a:pPr>
            <a:r>
              <a:rPr lang="en-US" sz="1730">
                <a:solidFill>
                  <a:srgbClr val="000000"/>
                </a:solidFill>
                <a:latin typeface="思源黑体-加粗"/>
                <a:ea typeface="思源黑体-加粗"/>
                <a:cs typeface="思源黑体-加粗"/>
              </a:rPr>
              <a:t>未来工作展望</a:t>
            </a:r>
            <a:endParaRPr lang="en-US" sz="1730"/>
          </a:p>
        </p:txBody>
      </p:sp>
      <p:sp>
        <p:nvSpPr>
          <p:cNvPr id="10" name="Text 6"/>
          <p:cNvSpPr/>
          <p:nvPr/>
        </p:nvSpPr>
        <p:spPr>
          <a:xfrm>
            <a:off x="455305" y="76522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01</a:t>
            </a:r>
            <a:endParaRPr lang="en-US" sz="2030"/>
          </a:p>
        </p:txBody>
      </p:sp>
      <p:sp>
        <p:nvSpPr>
          <p:cNvPr id="11" name="Text 7"/>
          <p:cNvSpPr/>
          <p:nvPr/>
        </p:nvSpPr>
        <p:spPr>
          <a:xfrm>
            <a:off x="2246910" y="2575806"/>
            <a:ext cx="1206607"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考虑采用性能更强大的开源生成模型（如ChatGLM、Qwen等），并结合医学领域的语料进行微调或预训练，以显著提升模型在专业语言生成能力、逻辑推理和多轮交互方面的表现。</a:t>
            </a:r>
            <a:endParaRPr lang="en-US" sz="900"/>
          </a:p>
        </p:txBody>
      </p:sp>
      <p:sp>
        <p:nvSpPr>
          <p:cNvPr id="12" name="Text 8"/>
          <p:cNvSpPr/>
          <p:nvPr/>
        </p:nvSpPr>
        <p:spPr>
          <a:xfrm>
            <a:off x="3875268" y="634148"/>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03</a:t>
            </a:r>
            <a:endParaRPr lang="en-US" sz="2030"/>
          </a:p>
        </p:txBody>
      </p:sp>
      <p:sp>
        <p:nvSpPr>
          <p:cNvPr id="13" name="Text 9"/>
          <p:cNvSpPr/>
          <p:nvPr/>
        </p:nvSpPr>
        <p:spPr>
          <a:xfrm>
            <a:off x="2241018" y="2328636"/>
            <a:ext cx="1208407" cy="160883"/>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274"/>
              </a:lnSpc>
              <a:buNone/>
            </a:pPr>
            <a:r>
              <a:rPr lang="en-US" sz="980" b="1">
                <a:solidFill>
                  <a:srgbClr val="000000"/>
                </a:solidFill>
                <a:latin typeface="SourceHanSansCN-Regular"/>
                <a:ea typeface="SourceHanSansCN-Regular"/>
                <a:cs typeface="SourceHanSansCN-Regular"/>
              </a:rPr>
              <a:t>采用更强的生成模型</a:t>
            </a:r>
            <a:endParaRPr lang="en-US" sz="980"/>
          </a:p>
        </p:txBody>
      </p:sp>
      <p:sp>
        <p:nvSpPr>
          <p:cNvPr id="14" name="Text 10"/>
          <p:cNvSpPr/>
          <p:nvPr/>
        </p:nvSpPr>
        <p:spPr>
          <a:xfrm>
            <a:off x="2221113" y="1850511"/>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02</a:t>
            </a:r>
            <a:endParaRPr lang="en-US" sz="2030"/>
          </a:p>
        </p:txBody>
      </p:sp>
      <p:sp>
        <p:nvSpPr>
          <p:cNvPr id="15" name="Text 11"/>
          <p:cNvSpPr/>
          <p:nvPr/>
        </p:nvSpPr>
        <p:spPr>
          <a:xfrm>
            <a:off x="5545120" y="2648205"/>
            <a:ext cx="1206607" cy="133677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170"/>
              </a:lnSpc>
              <a:buNone/>
            </a:pPr>
            <a:r>
              <a:rPr lang="en-US" sz="900">
                <a:solidFill>
                  <a:srgbClr val="333333"/>
                </a:solidFill>
                <a:latin typeface="SourceHanSansCN-Regular"/>
                <a:ea typeface="SourceHanSansCN-Regular"/>
                <a:cs typeface="SourceHanSansCN-Regular"/>
              </a:rPr>
              <a:t>建立更完善的评估体系，并引入用户反馈机制。通过收集用户对答案质量的评价，形成一个持续改进的闭环，利用这些反馈数据不断迭代优化检索、排序和生成模块，提升系统的实用性。</a:t>
            </a:r>
            <a:endParaRPr lang="en-US" sz="900"/>
          </a:p>
        </p:txBody>
      </p:sp>
      <p:sp>
        <p:nvSpPr>
          <p:cNvPr id="16" name="Text 12"/>
          <p:cNvSpPr/>
          <p:nvPr/>
        </p:nvSpPr>
        <p:spPr>
          <a:xfrm>
            <a:off x="5545121" y="1911994"/>
            <a:ext cx="1258156" cy="306984"/>
          </a:xfrm>
          <a:prstGeom prst="rect">
            <a:avLst/>
          </a:prstGeom>
          <a:noFill/>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045"/>
              </a:lnSpc>
              <a:buNone/>
            </a:pPr>
            <a:r>
              <a:rPr lang="en-US" sz="2030" b="1">
                <a:solidFill>
                  <a:srgbClr val="000000"/>
                </a:solidFill>
                <a:latin typeface="Arial" pitchFamily="34" charset="0"/>
                <a:ea typeface="Arial" pitchFamily="34" charset="0"/>
                <a:cs typeface="Arial" pitchFamily="34" charset="0"/>
              </a:rPr>
              <a:t>04</a:t>
            </a:r>
            <a:endParaRPr lang="en-US" sz="203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750" fill="hold" grpId="1"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dur="750" fill="hold" grpId="2"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dur="750" fill="hold" grpId="3"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nodeType="afterGroup">
                            <p:stCondLst>
                              <p:cond delay="500"/>
                            </p:stCondLst>
                            <p:childTnLst>
                              <p:par>
                                <p:cTn id="15" presetID="10" presetClass="entr" presetSubtype="0" dur="750" fill="hold" grpId="4"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dur="750" fill="hold" grpId="5"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dur="750" fill="hold" grpId="6"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dur="750" fill="hold" grpId="7"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nodeType="afterGroup">
                            <p:stCondLst>
                              <p:cond delay="1000"/>
                            </p:stCondLst>
                            <p:childTnLst>
                              <p:par>
                                <p:cTn id="28" presetID="10" presetClass="entr" presetSubtype="0" dur="750" fill="hold" grpId="8"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dur="750" fill="hold" grpId="9"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dur="750" fill="hold" grpId="1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dur="750" fill="hold" grpId="11"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nodeType="afterGroup">
                            <p:stCondLst>
                              <p:cond delay="1500"/>
                            </p:stCondLst>
                            <p:childTnLst>
                              <p:par>
                                <p:cTn id="41" presetID="10" presetClass="entr" presetSubtype="0" dur="750" fill="hold" grpId="12"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3" animBg="1"/>
      <p:bldP spid="5" grpId="9" animBg="1"/>
      <p:bldP spid="6" grpId="2" animBg="1"/>
      <p:bldP spid="7" grpId="7" animBg="1"/>
      <p:bldP spid="8" grpId="10" animBg="1"/>
      <p:bldP spid="10" grpId="1" animBg="1"/>
      <p:bldP spid="11" grpId="6" animBg="1"/>
      <p:bldP spid="12" grpId="8" animBg="1"/>
      <p:bldP spid="13" grpId="5" animBg="1"/>
      <p:bldP spid="14" grpId="4" animBg="1"/>
      <p:bldP spid="15" grpId="11" animBg="1"/>
      <p:bldP spid="16" grpId="12"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60487" y="1203441"/>
            <a:ext cx="5708265" cy="609451"/>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4776"/>
              </a:lnSpc>
              <a:buNone/>
            </a:pPr>
            <a:r>
              <a:rPr lang="en-US" sz="3980">
                <a:solidFill>
                  <a:srgbClr val="146266"/>
                </a:solidFill>
              </a:rPr>
              <a:t>感谢聆听</a:t>
            </a:r>
            <a:endParaRPr lang="en-US" sz="398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2.02.28"/>
  <p:tag name="AS_TITLE" val="Aspose.Slides for Java"/>
  <p:tag name="AS_VERSION" val="2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1254</Words>
  <Application>Microsoft Office PowerPoint</Application>
  <PresentationFormat>自定义</PresentationFormat>
  <Paragraphs>250</Paragraphs>
  <Slides>24</Slides>
  <Notes>24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SourceHanSansCN-Regular</vt:lpstr>
      <vt:lpstr>思源黑体-加粗</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2077810081@qq.com</cp:lastModifiedBy>
  <cp:revision>5</cp:revision>
  <cp:lastPrinted>2026-01-08T23:59:21Z</cp:lastPrinted>
  <dcterms:created xsi:type="dcterms:W3CDTF">2026-01-08T15:59:21Z</dcterms:created>
  <dcterms:modified xsi:type="dcterms:W3CDTF">2026-01-08T16:06:07Z</dcterms:modified>
</cp:coreProperties>
</file>